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obby Jones Condensed Soft" charset="1" panose="00000000000000000000"/>
      <p:regular r:id="rId21"/>
    </p:embeddedFont>
    <p:embeddedFont>
      <p:font typeface="Jella"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slide7.xml" Type="http://schemas.openxmlformats.org/officeDocument/2006/relationships/slide"/><Relationship Id="rId11" Target="slide11.xml" Type="http://schemas.openxmlformats.org/officeDocument/2006/relationships/slide"/><Relationship Id="rId12" Target="../media/image8.png" Type="http://schemas.openxmlformats.org/officeDocument/2006/relationships/image"/><Relationship Id="rId13" Target="../media/image9.svg" Type="http://schemas.openxmlformats.org/officeDocument/2006/relationships/image"/><Relationship Id="rId14" Target="../media/image10.png" Type="http://schemas.openxmlformats.org/officeDocument/2006/relationships/image"/><Relationship Id="rId15" Target="../media/image11.svg" Type="http://schemas.openxmlformats.org/officeDocument/2006/relationships/image"/><Relationship Id="rId16" Target="../media/image12.png" Type="http://schemas.openxmlformats.org/officeDocument/2006/relationships/image"/><Relationship Id="rId17" Target="../media/image13.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slide3.xml" Type="http://schemas.openxmlformats.org/officeDocument/2006/relationship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slide11.xml" Type="http://schemas.openxmlformats.org/officeDocument/2006/relationships/slide"/><Relationship Id="rId11" Target="../media/image8.png" Type="http://schemas.openxmlformats.org/officeDocument/2006/relationships/image"/><Relationship Id="rId12" Target="../media/image9.svg" Type="http://schemas.openxmlformats.org/officeDocument/2006/relationships/image"/><Relationship Id="rId13" Target="../media/image10.png" Type="http://schemas.openxmlformats.org/officeDocument/2006/relationships/image"/><Relationship Id="rId14" Target="../media/image11.svg" Type="http://schemas.openxmlformats.org/officeDocument/2006/relationships/image"/><Relationship Id="rId15" Target="../media/image12.png" Type="http://schemas.openxmlformats.org/officeDocument/2006/relationships/image"/><Relationship Id="rId16" Target="../media/image13.svg" Type="http://schemas.openxmlformats.org/officeDocument/2006/relationships/image"/><Relationship Id="rId17" Target="../media/image1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slide3.xml" Type="http://schemas.openxmlformats.org/officeDocument/2006/relationships/slide"/><Relationship Id="rId9" Target="slide7.xml" Type="http://schemas.openxmlformats.org/officeDocument/2006/relationship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slide11.xml" Type="http://schemas.openxmlformats.org/officeDocument/2006/relationships/slide"/><Relationship Id="rId11" Target="../media/image8.png" Type="http://schemas.openxmlformats.org/officeDocument/2006/relationships/image"/><Relationship Id="rId12" Target="../media/image9.svg" Type="http://schemas.openxmlformats.org/officeDocument/2006/relationships/image"/><Relationship Id="rId13" Target="../media/image10.png" Type="http://schemas.openxmlformats.org/officeDocument/2006/relationships/image"/><Relationship Id="rId14" Target="../media/image11.svg" Type="http://schemas.openxmlformats.org/officeDocument/2006/relationships/image"/><Relationship Id="rId15" Target="../media/image12.png" Type="http://schemas.openxmlformats.org/officeDocument/2006/relationships/image"/><Relationship Id="rId16" Target="../media/image13.svg" Type="http://schemas.openxmlformats.org/officeDocument/2006/relationships/image"/><Relationship Id="rId17" Target="../media/image1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slide3.xml" Type="http://schemas.openxmlformats.org/officeDocument/2006/relationships/slide"/><Relationship Id="rId9" Target="slide7.xml" Type="http://schemas.openxmlformats.org/officeDocument/2006/relationship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 Id="rId7"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4.png" Type="http://schemas.openxmlformats.org/officeDocument/2006/relationships/image"/><Relationship Id="rId7"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5.png" Type="http://schemas.openxmlformats.org/officeDocument/2006/relationships/image"/><Relationship Id="rId7"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slide7.xml" Type="http://schemas.openxmlformats.org/officeDocument/2006/relationships/slide"/><Relationship Id="rId11" Target="slide11.xml" Type="http://schemas.openxmlformats.org/officeDocument/2006/relationships/slide"/><Relationship Id="rId12" Target="../media/image8.png" Type="http://schemas.openxmlformats.org/officeDocument/2006/relationships/image"/><Relationship Id="rId13" Target="../media/image9.svg" Type="http://schemas.openxmlformats.org/officeDocument/2006/relationships/image"/><Relationship Id="rId14" Target="../media/image10.png" Type="http://schemas.openxmlformats.org/officeDocument/2006/relationships/image"/><Relationship Id="rId15" Target="../media/image11.svg" Type="http://schemas.openxmlformats.org/officeDocument/2006/relationships/image"/><Relationship Id="rId16" Target="../media/image12.png" Type="http://schemas.openxmlformats.org/officeDocument/2006/relationships/image"/><Relationship Id="rId17" Target="../media/image13.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6.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slide3.xml" Type="http://schemas.openxmlformats.org/officeDocument/2006/relationship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 Id="rId7"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6.png" Type="http://schemas.openxmlformats.org/officeDocument/2006/relationships/image"/><Relationship Id="rId7"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8.png" Type="http://schemas.openxmlformats.org/officeDocument/2006/relationships/image"/><Relationship Id="rId7"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9.png" Type="http://schemas.openxmlformats.org/officeDocument/2006/relationships/image"/><Relationship Id="rId7" Target="../media/image1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TextBox 2" id="2"/>
          <p:cNvSpPr txBox="true"/>
          <p:nvPr/>
        </p:nvSpPr>
        <p:spPr>
          <a:xfrm rot="0">
            <a:off x="6373964" y="4206652"/>
            <a:ext cx="9152229" cy="2236528"/>
          </a:xfrm>
          <a:prstGeom prst="rect">
            <a:avLst/>
          </a:prstGeom>
        </p:spPr>
        <p:txBody>
          <a:bodyPr anchor="t" rtlCol="false" tIns="0" lIns="0" bIns="0" rIns="0">
            <a:spAutoFit/>
          </a:bodyPr>
          <a:lstStyle/>
          <a:p>
            <a:pPr algn="just">
              <a:lnSpc>
                <a:spcPts val="17938"/>
              </a:lnSpc>
            </a:pPr>
            <a:r>
              <a:rPr lang="en-US" sz="12813">
                <a:solidFill>
                  <a:srgbClr val="06340A"/>
                </a:solidFill>
                <a:latin typeface="Bobby Jones Condensed Soft"/>
                <a:ea typeface="Bobby Jones Condensed Soft"/>
                <a:cs typeface="Bobby Jones Condensed Soft"/>
                <a:sym typeface="Bobby Jones Condensed Soft"/>
              </a:rPr>
              <a:t>guide</a:t>
            </a:r>
          </a:p>
        </p:txBody>
      </p:sp>
      <p:sp>
        <p:nvSpPr>
          <p:cNvPr name="Freeform 3" id="3"/>
          <p:cNvSpPr/>
          <p:nvPr/>
        </p:nvSpPr>
        <p:spPr>
          <a:xfrm flipH="false" flipV="false" rot="0">
            <a:off x="552380" y="655169"/>
            <a:ext cx="5430461" cy="8585709"/>
          </a:xfrm>
          <a:custGeom>
            <a:avLst/>
            <a:gdLst/>
            <a:ahLst/>
            <a:cxnLst/>
            <a:rect r="r" b="b" t="t" l="l"/>
            <a:pathLst>
              <a:path h="8585709" w="5430461">
                <a:moveTo>
                  <a:pt x="0" y="0"/>
                </a:moveTo>
                <a:lnTo>
                  <a:pt x="5430461" y="0"/>
                </a:lnTo>
                <a:lnTo>
                  <a:pt x="5430461" y="8585709"/>
                </a:lnTo>
                <a:lnTo>
                  <a:pt x="0" y="8585709"/>
                </a:lnTo>
                <a:lnTo>
                  <a:pt x="0" y="0"/>
                </a:lnTo>
                <a:close/>
              </a:path>
            </a:pathLst>
          </a:custGeom>
          <a:blipFill>
            <a:blip r:embed="rId2"/>
            <a:stretch>
              <a:fillRect l="0" t="0" r="0" b="0"/>
            </a:stretch>
          </a:blipFill>
        </p:spPr>
      </p:sp>
      <p:sp>
        <p:nvSpPr>
          <p:cNvPr name="Freeform 4" id="4"/>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815797" y="-1215167"/>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329709">
            <a:off x="10025191"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329709">
            <a:off x="13268615" y="4640099"/>
            <a:ext cx="964814" cy="927976"/>
          </a:xfrm>
          <a:custGeom>
            <a:avLst/>
            <a:gdLst/>
            <a:ahLst/>
            <a:cxnLst/>
            <a:rect r="r" b="b" t="t" l="l"/>
            <a:pathLst>
              <a:path h="927976" w="964814">
                <a:moveTo>
                  <a:pt x="0" y="0"/>
                </a:moveTo>
                <a:lnTo>
                  <a:pt x="964815" y="0"/>
                </a:lnTo>
                <a:lnTo>
                  <a:pt x="964815" y="927976"/>
                </a:lnTo>
                <a:lnTo>
                  <a:pt x="0" y="9279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7510443"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6389337" y="7006756"/>
            <a:ext cx="5897158" cy="497205"/>
          </a:xfrm>
          <a:prstGeom prst="rect">
            <a:avLst/>
          </a:prstGeom>
        </p:spPr>
        <p:txBody>
          <a:bodyPr anchor="t" rtlCol="false" tIns="0" lIns="0" bIns="0" rIns="0">
            <a:spAutoFit/>
          </a:bodyPr>
          <a:lstStyle/>
          <a:p>
            <a:pPr algn="l" marL="0" indent="0" lvl="0">
              <a:lnSpc>
                <a:spcPts val="3780"/>
              </a:lnSpc>
              <a:spcBef>
                <a:spcPct val="0"/>
              </a:spcBef>
            </a:pPr>
            <a:r>
              <a:rPr lang="en-US" sz="3600">
                <a:solidFill>
                  <a:srgbClr val="06340A"/>
                </a:solidFill>
                <a:latin typeface="Bobby Jones Condensed Soft"/>
                <a:ea typeface="Bobby Jones Condensed Soft"/>
                <a:cs typeface="Bobby Jones Condensed Soft"/>
                <a:sym typeface="Bobby Jones Condensed Soft"/>
              </a:rPr>
              <a:t>university management system edition</a:t>
            </a:r>
          </a:p>
        </p:txBody>
      </p:sp>
      <p:sp>
        <p:nvSpPr>
          <p:cNvPr name="TextBox 16" id="16"/>
          <p:cNvSpPr txBox="true"/>
          <p:nvPr/>
        </p:nvSpPr>
        <p:spPr>
          <a:xfrm rot="0">
            <a:off x="6389337" y="2255874"/>
            <a:ext cx="9152229" cy="2236528"/>
          </a:xfrm>
          <a:prstGeom prst="rect">
            <a:avLst/>
          </a:prstGeom>
        </p:spPr>
        <p:txBody>
          <a:bodyPr anchor="t" rtlCol="false" tIns="0" lIns="0" bIns="0" rIns="0">
            <a:spAutoFit/>
          </a:bodyPr>
          <a:lstStyle/>
          <a:p>
            <a:pPr algn="just">
              <a:lnSpc>
                <a:spcPts val="17938"/>
              </a:lnSpc>
            </a:pPr>
            <a:r>
              <a:rPr lang="en-US" sz="12813">
                <a:solidFill>
                  <a:srgbClr val="06340A"/>
                </a:solidFill>
                <a:latin typeface="Bobby Jones Condensed Soft"/>
                <a:ea typeface="Bobby Jones Condensed Soft"/>
                <a:cs typeface="Bobby Jones Condensed Soft"/>
                <a:sym typeface="Bobby Jones Condensed Soft"/>
              </a:rPr>
              <a:t>user-friendly </a:t>
            </a:r>
          </a:p>
        </p:txBody>
      </p:sp>
      <p:sp>
        <p:nvSpPr>
          <p:cNvPr name="Freeform 17" id="17"/>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a:hlinkClick r:id="rId9" action="ppaction://hlinksldjump"/>
          </p:cNvPr>
          <p:cNvSpPr/>
          <p:nvPr/>
        </p:nvSpPr>
        <p:spPr>
          <a:xfrm flipH="false" flipV="false" rot="5400000">
            <a:off x="16059901" y="1051474"/>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a:hlinkClick r:id="rId10" action="ppaction://hlinksldjump"/>
          </p:cNvPr>
          <p:cNvSpPr/>
          <p:nvPr/>
        </p:nvSpPr>
        <p:spPr>
          <a:xfrm flipH="false" flipV="false" rot="5400000">
            <a:off x="16059901" y="3606038"/>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a:hlinkClick r:id="rId11" action="ppaction://hlinksldjump"/>
          </p:cNvPr>
          <p:cNvSpPr/>
          <p:nvPr/>
        </p:nvSpPr>
        <p:spPr>
          <a:xfrm flipH="false" flipV="false" rot="5400000">
            <a:off x="16161419" y="6157237"/>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a:hlinkClick r:id="rId11" action="ppaction://hlinksldjump"/>
          </p:cNvPr>
          <p:cNvSpPr/>
          <p:nvPr/>
        </p:nvSpPr>
        <p:spPr>
          <a:xfrm flipH="false" flipV="false" rot="0">
            <a:off x="17326648" y="7210332"/>
            <a:ext cx="679114" cy="1098567"/>
          </a:xfrm>
          <a:custGeom>
            <a:avLst/>
            <a:gdLst/>
            <a:ahLst/>
            <a:cxnLst/>
            <a:rect r="r" b="b" t="t" l="l"/>
            <a:pathLst>
              <a:path h="1098567" w="679114">
                <a:moveTo>
                  <a:pt x="0" y="0"/>
                </a:moveTo>
                <a:lnTo>
                  <a:pt x="679114" y="0"/>
                </a:lnTo>
                <a:lnTo>
                  <a:pt x="679114" y="1098566"/>
                </a:lnTo>
                <a:lnTo>
                  <a:pt x="0" y="10985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a:hlinkClick r:id="rId10" action="ppaction://hlinksldjump"/>
          </p:cNvPr>
          <p:cNvSpPr/>
          <p:nvPr/>
        </p:nvSpPr>
        <p:spPr>
          <a:xfrm flipH="false" flipV="false" rot="0">
            <a:off x="16948061" y="4503471"/>
            <a:ext cx="1241656" cy="1280058"/>
          </a:xfrm>
          <a:custGeom>
            <a:avLst/>
            <a:gdLst/>
            <a:ahLst/>
            <a:cxnLst/>
            <a:rect r="r" b="b" t="t" l="l"/>
            <a:pathLst>
              <a:path h="1280058" w="1241656">
                <a:moveTo>
                  <a:pt x="0" y="0"/>
                </a:moveTo>
                <a:lnTo>
                  <a:pt x="1241656" y="0"/>
                </a:lnTo>
                <a:lnTo>
                  <a:pt x="1241656" y="1280058"/>
                </a:lnTo>
                <a:lnTo>
                  <a:pt x="0" y="12800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a:hlinkClick r:id="rId9" action="ppaction://hlinksldjump"/>
          </p:cNvPr>
          <p:cNvSpPr/>
          <p:nvPr/>
        </p:nvSpPr>
        <p:spPr>
          <a:xfrm flipH="false" flipV="false" rot="0">
            <a:off x="17131937" y="2093054"/>
            <a:ext cx="668710" cy="1131664"/>
          </a:xfrm>
          <a:custGeom>
            <a:avLst/>
            <a:gdLst/>
            <a:ahLst/>
            <a:cxnLst/>
            <a:rect r="r" b="b" t="t" l="l"/>
            <a:pathLst>
              <a:path h="1131664" w="668710">
                <a:moveTo>
                  <a:pt x="0" y="0"/>
                </a:moveTo>
                <a:lnTo>
                  <a:pt x="668710" y="0"/>
                </a:lnTo>
                <a:lnTo>
                  <a:pt x="668710" y="1131664"/>
                </a:lnTo>
                <a:lnTo>
                  <a:pt x="0" y="113166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4" id="24"/>
          <p:cNvSpPr txBox="true"/>
          <p:nvPr/>
        </p:nvSpPr>
        <p:spPr>
          <a:xfrm rot="0">
            <a:off x="16810577" y="1463764"/>
            <a:ext cx="1311430" cy="488823"/>
          </a:xfrm>
          <a:prstGeom prst="rect">
            <a:avLst/>
          </a:prstGeom>
        </p:spPr>
        <p:txBody>
          <a:bodyPr anchor="t" rtlCol="false" tIns="0" lIns="0" bIns="0" rIns="0">
            <a:spAutoFit/>
          </a:bodyPr>
          <a:lstStyle/>
          <a:p>
            <a:pPr algn="ctr">
              <a:lnSpc>
                <a:spcPts val="4031"/>
              </a:lnSpc>
              <a:spcBef>
                <a:spcPct val="0"/>
              </a:spcBef>
            </a:pPr>
            <a:r>
              <a:rPr lang="en-US" sz="2879">
                <a:solidFill>
                  <a:srgbClr val="06340A"/>
                </a:solidFill>
                <a:latin typeface="Bobby Jones Condensed Soft"/>
                <a:ea typeface="Bobby Jones Condensed Soft"/>
                <a:cs typeface="Bobby Jones Condensed Soft"/>
                <a:sym typeface="Bobby Jones Condensed Soft"/>
              </a:rPr>
              <a:t>Student</a:t>
            </a:r>
          </a:p>
        </p:txBody>
      </p:sp>
      <p:sp>
        <p:nvSpPr>
          <p:cNvPr name="TextBox 25" id="25"/>
          <p:cNvSpPr txBox="true"/>
          <p:nvPr/>
        </p:nvSpPr>
        <p:spPr>
          <a:xfrm rot="0">
            <a:off x="16522022" y="4045455"/>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INSTRUCTOR</a:t>
            </a:r>
          </a:p>
        </p:txBody>
      </p:sp>
      <p:sp>
        <p:nvSpPr>
          <p:cNvPr name="TextBox 26" id="26"/>
          <p:cNvSpPr txBox="true"/>
          <p:nvPr/>
        </p:nvSpPr>
        <p:spPr>
          <a:xfrm rot="0">
            <a:off x="16624619" y="6604623"/>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admin staff</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540382" y="3277078"/>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4713031" cy="1433114"/>
            <a:chOff x="0" y="0"/>
            <a:chExt cx="3875037" cy="377446"/>
          </a:xfrm>
        </p:grpSpPr>
        <p:sp>
          <p:nvSpPr>
            <p:cNvPr name="Freeform 15" id="15"/>
            <p:cNvSpPr/>
            <p:nvPr/>
          </p:nvSpPr>
          <p:spPr>
            <a:xfrm flipH="false" flipV="false" rot="0">
              <a:off x="0" y="0"/>
              <a:ext cx="3875037" cy="377446"/>
            </a:xfrm>
            <a:custGeom>
              <a:avLst/>
              <a:gdLst/>
              <a:ahLst/>
              <a:cxnLst/>
              <a:rect r="r" b="b" t="t" l="l"/>
              <a:pathLst>
                <a:path h="377446" w="3875037">
                  <a:moveTo>
                    <a:pt x="52619" y="0"/>
                  </a:moveTo>
                  <a:lnTo>
                    <a:pt x="3822417" y="0"/>
                  </a:lnTo>
                  <a:cubicBezTo>
                    <a:pt x="3851478" y="0"/>
                    <a:pt x="3875037" y="23559"/>
                    <a:pt x="3875037" y="52619"/>
                  </a:cubicBezTo>
                  <a:lnTo>
                    <a:pt x="3875037" y="324826"/>
                  </a:lnTo>
                  <a:cubicBezTo>
                    <a:pt x="3875037" y="338782"/>
                    <a:pt x="3869493" y="352166"/>
                    <a:pt x="3859625" y="362034"/>
                  </a:cubicBezTo>
                  <a:cubicBezTo>
                    <a:pt x="3849757" y="371902"/>
                    <a:pt x="3836373" y="377446"/>
                    <a:pt x="3822417" y="377446"/>
                  </a:cubicBezTo>
                  <a:lnTo>
                    <a:pt x="52619" y="377446"/>
                  </a:lnTo>
                  <a:cubicBezTo>
                    <a:pt x="38664" y="377446"/>
                    <a:pt x="25280" y="371902"/>
                    <a:pt x="15412" y="362034"/>
                  </a:cubicBezTo>
                  <a:cubicBezTo>
                    <a:pt x="5544" y="352166"/>
                    <a:pt x="0" y="338782"/>
                    <a:pt x="0" y="324826"/>
                  </a:cubicBezTo>
                  <a:lnTo>
                    <a:pt x="0" y="52619"/>
                  </a:lnTo>
                  <a:cubicBezTo>
                    <a:pt x="0" y="38664"/>
                    <a:pt x="5544" y="25280"/>
                    <a:pt x="15412" y="15412"/>
                  </a:cubicBezTo>
                  <a:cubicBezTo>
                    <a:pt x="25280" y="5544"/>
                    <a:pt x="38664" y="0"/>
                    <a:pt x="52619" y="0"/>
                  </a:cubicBezTo>
                  <a:close/>
                </a:path>
              </a:pathLst>
            </a:custGeom>
            <a:solidFill>
              <a:srgbClr val="FDD41C">
                <a:alpha val="77647"/>
              </a:srgbClr>
            </a:solidFill>
          </p:spPr>
        </p:sp>
        <p:sp>
          <p:nvSpPr>
            <p:cNvPr name="TextBox 16" id="16"/>
            <p:cNvSpPr txBox="true"/>
            <p:nvPr/>
          </p:nvSpPr>
          <p:spPr>
            <a:xfrm>
              <a:off x="0" y="-38100"/>
              <a:ext cx="3875037" cy="415546"/>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3168064" y="4056658"/>
            <a:ext cx="14880388" cy="4483464"/>
            <a:chOff x="0" y="0"/>
            <a:chExt cx="3919115" cy="1180830"/>
          </a:xfrm>
        </p:grpSpPr>
        <p:sp>
          <p:nvSpPr>
            <p:cNvPr name="Freeform 18" id="18"/>
            <p:cNvSpPr/>
            <p:nvPr/>
          </p:nvSpPr>
          <p:spPr>
            <a:xfrm flipH="false" flipV="false" rot="0">
              <a:off x="0" y="0"/>
              <a:ext cx="3919115" cy="1180830"/>
            </a:xfrm>
            <a:custGeom>
              <a:avLst/>
              <a:gdLst/>
              <a:ahLst/>
              <a:cxnLst/>
              <a:rect r="r" b="b" t="t" l="l"/>
              <a:pathLst>
                <a:path h="1180830" w="3919115">
                  <a:moveTo>
                    <a:pt x="32777" y="0"/>
                  </a:moveTo>
                  <a:lnTo>
                    <a:pt x="3886337" y="0"/>
                  </a:lnTo>
                  <a:cubicBezTo>
                    <a:pt x="3904440" y="0"/>
                    <a:pt x="3919115" y="14675"/>
                    <a:pt x="3919115" y="32777"/>
                  </a:cubicBezTo>
                  <a:lnTo>
                    <a:pt x="3919115" y="1148052"/>
                  </a:lnTo>
                  <a:cubicBezTo>
                    <a:pt x="3919115" y="1156746"/>
                    <a:pt x="3915661" y="1165083"/>
                    <a:pt x="3909514" y="1171230"/>
                  </a:cubicBezTo>
                  <a:cubicBezTo>
                    <a:pt x="3903368" y="1177376"/>
                    <a:pt x="3895030" y="1180830"/>
                    <a:pt x="3886337" y="1180830"/>
                  </a:cubicBezTo>
                  <a:lnTo>
                    <a:pt x="32777" y="1180830"/>
                  </a:lnTo>
                  <a:cubicBezTo>
                    <a:pt x="14675" y="1180830"/>
                    <a:pt x="0" y="1166155"/>
                    <a:pt x="0" y="1148052"/>
                  </a:cubicBezTo>
                  <a:lnTo>
                    <a:pt x="0" y="32777"/>
                  </a:lnTo>
                  <a:cubicBezTo>
                    <a:pt x="0" y="24084"/>
                    <a:pt x="3453" y="15747"/>
                    <a:pt x="9600" y="9600"/>
                  </a:cubicBezTo>
                  <a:cubicBezTo>
                    <a:pt x="15747" y="3453"/>
                    <a:pt x="24084" y="0"/>
                    <a:pt x="32777" y="0"/>
                  </a:cubicBezTo>
                  <a:close/>
                </a:path>
              </a:pathLst>
            </a:custGeom>
            <a:solidFill>
              <a:srgbClr val="FDD41C">
                <a:alpha val="44706"/>
              </a:srgbClr>
            </a:solidFill>
          </p:spPr>
        </p:sp>
        <p:sp>
          <p:nvSpPr>
            <p:cNvPr name="TextBox 19" id="19"/>
            <p:cNvSpPr txBox="true"/>
            <p:nvPr/>
          </p:nvSpPr>
          <p:spPr>
            <a:xfrm>
              <a:off x="0" y="-38100"/>
              <a:ext cx="3919115"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867287">
            <a:off x="-1605261" y="2904500"/>
            <a:ext cx="5537550" cy="7420503"/>
          </a:xfrm>
          <a:custGeom>
            <a:avLst/>
            <a:gdLst/>
            <a:ahLst/>
            <a:cxnLst/>
            <a:rect r="r" b="b" t="t" l="l"/>
            <a:pathLst>
              <a:path h="7420503" w="5537550">
                <a:moveTo>
                  <a:pt x="0" y="0"/>
                </a:moveTo>
                <a:lnTo>
                  <a:pt x="5537551" y="0"/>
                </a:lnTo>
                <a:lnTo>
                  <a:pt x="5537551" y="7420502"/>
                </a:lnTo>
                <a:lnTo>
                  <a:pt x="0" y="7420502"/>
                </a:lnTo>
                <a:lnTo>
                  <a:pt x="0" y="0"/>
                </a:lnTo>
                <a:close/>
              </a:path>
            </a:pathLst>
          </a:custGeom>
          <a:blipFill>
            <a:blip r:embed="rId6"/>
            <a:stretch>
              <a:fillRect l="0" t="0" r="0" b="0"/>
            </a:stretch>
          </a:blipFill>
        </p:spPr>
      </p:sp>
      <p:sp>
        <p:nvSpPr>
          <p:cNvPr name="TextBox 24" id="24"/>
          <p:cNvSpPr txBox="true"/>
          <p:nvPr/>
        </p:nvSpPr>
        <p:spPr>
          <a:xfrm rot="0">
            <a:off x="9802828" y="1696519"/>
            <a:ext cx="6669221"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login form</a:t>
            </a:r>
          </a:p>
        </p:txBody>
      </p:sp>
      <p:sp>
        <p:nvSpPr>
          <p:cNvPr name="TextBox 25" id="25"/>
          <p:cNvSpPr txBox="true"/>
          <p:nvPr/>
        </p:nvSpPr>
        <p:spPr>
          <a:xfrm rot="0">
            <a:off x="9822311" y="4076525"/>
            <a:ext cx="7843894" cy="4167505"/>
          </a:xfrm>
          <a:prstGeom prst="rect">
            <a:avLst/>
          </a:prstGeom>
        </p:spPr>
        <p:txBody>
          <a:bodyPr anchor="t" rtlCol="false" tIns="0" lIns="0" bIns="0" rIns="0">
            <a:spAutoFit/>
          </a:bodyPr>
          <a:lstStyle/>
          <a:p>
            <a:pPr algn="just">
              <a:lnSpc>
                <a:spcPts val="3920"/>
              </a:lnSpc>
              <a:spcBef>
                <a:spcPct val="0"/>
              </a:spcBef>
            </a:pPr>
            <a:r>
              <a:rPr lang="en-US" sz="2800">
                <a:solidFill>
                  <a:srgbClr val="19120C"/>
                </a:solidFill>
                <a:latin typeface="Jella"/>
                <a:ea typeface="Jella"/>
                <a:cs typeface="Jella"/>
                <a:sym typeface="Jella"/>
              </a:rPr>
              <a:t>The login f</a:t>
            </a:r>
            <a:r>
              <a:rPr lang="en-US" sz="2800">
                <a:solidFill>
                  <a:srgbClr val="19120C"/>
                </a:solidFill>
                <a:latin typeface="Jella"/>
                <a:ea typeface="Jella"/>
                <a:cs typeface="Jella"/>
                <a:sym typeface="Jella"/>
              </a:rPr>
              <a:t>orm helps users securely access the database system. By entering their username and password, users can verify their identity, protect sensitive information, and reach the correct dashboard for their role. This ensures that only authorized users can view or update records.</a:t>
            </a:r>
          </a:p>
        </p:txBody>
      </p:sp>
      <p:grpSp>
        <p:nvGrpSpPr>
          <p:cNvPr name="Group 26" id="26"/>
          <p:cNvGrpSpPr/>
          <p:nvPr/>
        </p:nvGrpSpPr>
        <p:grpSpPr>
          <a:xfrm rot="0">
            <a:off x="3127636" y="3090736"/>
            <a:ext cx="6464071" cy="6584579"/>
            <a:chOff x="0" y="0"/>
            <a:chExt cx="1138075" cy="1159292"/>
          </a:xfrm>
        </p:grpSpPr>
        <p:sp>
          <p:nvSpPr>
            <p:cNvPr name="Freeform 27" id="27"/>
            <p:cNvSpPr/>
            <p:nvPr/>
          </p:nvSpPr>
          <p:spPr>
            <a:xfrm flipH="false" flipV="false" rot="0">
              <a:off x="0" y="0"/>
              <a:ext cx="1138075" cy="1159292"/>
            </a:xfrm>
            <a:custGeom>
              <a:avLst/>
              <a:gdLst/>
              <a:ahLst/>
              <a:cxnLst/>
              <a:rect r="r" b="b" t="t" l="l"/>
              <a:pathLst>
                <a:path h="1159292" w="1138075">
                  <a:moveTo>
                    <a:pt x="41919" y="0"/>
                  </a:moveTo>
                  <a:lnTo>
                    <a:pt x="1096156" y="0"/>
                  </a:lnTo>
                  <a:cubicBezTo>
                    <a:pt x="1107273" y="0"/>
                    <a:pt x="1117936" y="4416"/>
                    <a:pt x="1125797" y="12278"/>
                  </a:cubicBezTo>
                  <a:cubicBezTo>
                    <a:pt x="1133658" y="20139"/>
                    <a:pt x="1138075" y="30801"/>
                    <a:pt x="1138075" y="41919"/>
                  </a:cubicBezTo>
                  <a:lnTo>
                    <a:pt x="1138075" y="1117373"/>
                  </a:lnTo>
                  <a:cubicBezTo>
                    <a:pt x="1138075" y="1128490"/>
                    <a:pt x="1133658" y="1139153"/>
                    <a:pt x="1125797" y="1147014"/>
                  </a:cubicBezTo>
                  <a:cubicBezTo>
                    <a:pt x="1117936" y="1154875"/>
                    <a:pt x="1107273" y="1159292"/>
                    <a:pt x="1096156" y="1159292"/>
                  </a:cubicBezTo>
                  <a:lnTo>
                    <a:pt x="41919" y="1159292"/>
                  </a:lnTo>
                  <a:cubicBezTo>
                    <a:pt x="18768" y="1159292"/>
                    <a:pt x="0" y="1140524"/>
                    <a:pt x="0" y="1117373"/>
                  </a:cubicBezTo>
                  <a:lnTo>
                    <a:pt x="0" y="41919"/>
                  </a:lnTo>
                  <a:cubicBezTo>
                    <a:pt x="0" y="30801"/>
                    <a:pt x="4416" y="20139"/>
                    <a:pt x="12278" y="12278"/>
                  </a:cubicBezTo>
                  <a:cubicBezTo>
                    <a:pt x="20139" y="4416"/>
                    <a:pt x="30801" y="0"/>
                    <a:pt x="41919" y="0"/>
                  </a:cubicBezTo>
                  <a:close/>
                </a:path>
              </a:pathLst>
            </a:custGeom>
            <a:blipFill>
              <a:blip r:embed="rId7"/>
              <a:stretch>
                <a:fillRect l="-127" t="0" r="-127" b="0"/>
              </a:stretch>
            </a:blipFill>
            <a:ln w="19050" cap="rnd">
              <a:solidFill>
                <a:srgbClr val="000000"/>
              </a:solidFill>
              <a:prstDash val="solid"/>
              <a:round/>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6196061"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9032018" y="556510"/>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6776893" y="3292498"/>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6817856" y="8564360"/>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974226"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574685" y="2800731"/>
            <a:ext cx="6963975" cy="5346903"/>
          </a:xfrm>
          <a:prstGeom prst="rect">
            <a:avLst/>
          </a:prstGeom>
        </p:spPr>
        <p:txBody>
          <a:bodyPr anchor="t" rtlCol="false" tIns="0" lIns="0" bIns="0" rIns="0">
            <a:spAutoFit/>
          </a:bodyPr>
          <a:lstStyle/>
          <a:p>
            <a:pPr algn="just">
              <a:lnSpc>
                <a:spcPts val="21323"/>
              </a:lnSpc>
            </a:pPr>
            <a:r>
              <a:rPr lang="en-US" sz="15230">
                <a:solidFill>
                  <a:srgbClr val="06340A"/>
                </a:solidFill>
                <a:latin typeface="Bobby Jones Condensed Soft"/>
                <a:ea typeface="Bobby Jones Condensed Soft"/>
                <a:cs typeface="Bobby Jones Condensed Soft"/>
                <a:sym typeface="Bobby Jones Condensed Soft"/>
              </a:rPr>
              <a:t>guide for </a:t>
            </a:r>
          </a:p>
          <a:p>
            <a:pPr algn="just">
              <a:lnSpc>
                <a:spcPts val="21323"/>
              </a:lnSpc>
            </a:pPr>
            <a:r>
              <a:rPr lang="en-US" sz="15230">
                <a:solidFill>
                  <a:srgbClr val="06340A"/>
                </a:solidFill>
                <a:latin typeface="Bobby Jones Condensed Soft"/>
                <a:ea typeface="Bobby Jones Condensed Soft"/>
                <a:cs typeface="Bobby Jones Condensed Soft"/>
                <a:sym typeface="Bobby Jones Condensed Soft"/>
              </a:rPr>
              <a:t>students</a:t>
            </a:r>
          </a:p>
        </p:txBody>
      </p:sp>
      <p:sp>
        <p:nvSpPr>
          <p:cNvPr name="Freeform 14" id="14"/>
          <p:cNvSpPr/>
          <p:nvPr/>
        </p:nvSpPr>
        <p:spPr>
          <a:xfrm flipH="false" flipV="false" rot="-1329709">
            <a:off x="1398777" y="9779528"/>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2079477" y="3990587"/>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4861232" y="964003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329709">
            <a:off x="17805593" y="6522629"/>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a:hlinkClick r:id="rId8" action="ppaction://hlinksldjump"/>
          </p:cNvPr>
          <p:cNvSpPr/>
          <p:nvPr/>
        </p:nvSpPr>
        <p:spPr>
          <a:xfrm flipH="false" flipV="false" rot="5400000">
            <a:off x="16059901" y="1310888"/>
            <a:ext cx="2398799" cy="2683970"/>
          </a:xfrm>
          <a:custGeom>
            <a:avLst/>
            <a:gdLst/>
            <a:ahLst/>
            <a:cxnLst/>
            <a:rect r="r" b="b" t="t" l="l"/>
            <a:pathLst>
              <a:path h="2683970" w="2398799">
                <a:moveTo>
                  <a:pt x="0" y="0"/>
                </a:moveTo>
                <a:lnTo>
                  <a:pt x="2398798" y="0"/>
                </a:lnTo>
                <a:lnTo>
                  <a:pt x="2398798" y="2683970"/>
                </a:lnTo>
                <a:lnTo>
                  <a:pt x="0" y="2683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a:hlinkClick r:id="rId9" action="ppaction://hlinksldjump"/>
          </p:cNvPr>
          <p:cNvSpPr/>
          <p:nvPr/>
        </p:nvSpPr>
        <p:spPr>
          <a:xfrm flipH="false" flipV="false" rot="5400000">
            <a:off x="16059901" y="3865452"/>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a:hlinkClick r:id="rId10" action="ppaction://hlinksldjump"/>
          </p:cNvPr>
          <p:cNvSpPr/>
          <p:nvPr/>
        </p:nvSpPr>
        <p:spPr>
          <a:xfrm flipH="false" flipV="false" rot="5400000">
            <a:off x="16161419" y="6416651"/>
            <a:ext cx="2398799" cy="2683970"/>
          </a:xfrm>
          <a:custGeom>
            <a:avLst/>
            <a:gdLst/>
            <a:ahLst/>
            <a:cxnLst/>
            <a:rect r="r" b="b" t="t" l="l"/>
            <a:pathLst>
              <a:path h="2683970" w="2398799">
                <a:moveTo>
                  <a:pt x="0" y="0"/>
                </a:moveTo>
                <a:lnTo>
                  <a:pt x="2398798" y="0"/>
                </a:lnTo>
                <a:lnTo>
                  <a:pt x="2398798" y="2683970"/>
                </a:lnTo>
                <a:lnTo>
                  <a:pt x="0" y="2683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a:hlinkClick r:id="rId10" action="ppaction://hlinksldjump"/>
          </p:cNvPr>
          <p:cNvSpPr/>
          <p:nvPr/>
        </p:nvSpPr>
        <p:spPr>
          <a:xfrm flipH="false" flipV="false" rot="0">
            <a:off x="17326648" y="7469746"/>
            <a:ext cx="679114" cy="1098567"/>
          </a:xfrm>
          <a:custGeom>
            <a:avLst/>
            <a:gdLst/>
            <a:ahLst/>
            <a:cxnLst/>
            <a:rect r="r" b="b" t="t" l="l"/>
            <a:pathLst>
              <a:path h="1098567" w="679114">
                <a:moveTo>
                  <a:pt x="0" y="0"/>
                </a:moveTo>
                <a:lnTo>
                  <a:pt x="679114" y="0"/>
                </a:lnTo>
                <a:lnTo>
                  <a:pt x="679114" y="1098566"/>
                </a:lnTo>
                <a:lnTo>
                  <a:pt x="0" y="10985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a:hlinkClick r:id="rId9" action="ppaction://hlinksldjump"/>
          </p:cNvPr>
          <p:cNvSpPr/>
          <p:nvPr/>
        </p:nvSpPr>
        <p:spPr>
          <a:xfrm flipH="false" flipV="false" rot="0">
            <a:off x="16948061" y="4762885"/>
            <a:ext cx="1241656" cy="1280058"/>
          </a:xfrm>
          <a:custGeom>
            <a:avLst/>
            <a:gdLst/>
            <a:ahLst/>
            <a:cxnLst/>
            <a:rect r="r" b="b" t="t" l="l"/>
            <a:pathLst>
              <a:path h="1280058" w="1241656">
                <a:moveTo>
                  <a:pt x="0" y="0"/>
                </a:moveTo>
                <a:lnTo>
                  <a:pt x="1241656" y="0"/>
                </a:lnTo>
                <a:lnTo>
                  <a:pt x="1241656" y="1280057"/>
                </a:lnTo>
                <a:lnTo>
                  <a:pt x="0" y="128005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a:hlinkClick r:id="rId8" action="ppaction://hlinksldjump"/>
          </p:cNvPr>
          <p:cNvSpPr/>
          <p:nvPr/>
        </p:nvSpPr>
        <p:spPr>
          <a:xfrm flipH="false" flipV="false" rot="0">
            <a:off x="17131937" y="2352468"/>
            <a:ext cx="668710" cy="1131664"/>
          </a:xfrm>
          <a:custGeom>
            <a:avLst/>
            <a:gdLst/>
            <a:ahLst/>
            <a:cxnLst/>
            <a:rect r="r" b="b" t="t" l="l"/>
            <a:pathLst>
              <a:path h="1131664" w="668710">
                <a:moveTo>
                  <a:pt x="0" y="0"/>
                </a:moveTo>
                <a:lnTo>
                  <a:pt x="668710" y="0"/>
                </a:lnTo>
                <a:lnTo>
                  <a:pt x="668710" y="1131663"/>
                </a:lnTo>
                <a:lnTo>
                  <a:pt x="0" y="113166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4" id="24"/>
          <p:cNvSpPr txBox="true"/>
          <p:nvPr/>
        </p:nvSpPr>
        <p:spPr>
          <a:xfrm rot="0">
            <a:off x="16810577" y="1723177"/>
            <a:ext cx="1311430" cy="488823"/>
          </a:xfrm>
          <a:prstGeom prst="rect">
            <a:avLst/>
          </a:prstGeom>
        </p:spPr>
        <p:txBody>
          <a:bodyPr anchor="t" rtlCol="false" tIns="0" lIns="0" bIns="0" rIns="0">
            <a:spAutoFit/>
          </a:bodyPr>
          <a:lstStyle/>
          <a:p>
            <a:pPr algn="ctr">
              <a:lnSpc>
                <a:spcPts val="4031"/>
              </a:lnSpc>
              <a:spcBef>
                <a:spcPct val="0"/>
              </a:spcBef>
            </a:pPr>
            <a:r>
              <a:rPr lang="en-US" sz="2879" u="sng">
                <a:solidFill>
                  <a:srgbClr val="06340A"/>
                </a:solidFill>
                <a:latin typeface="Bobby Jones Condensed Soft"/>
                <a:ea typeface="Bobby Jones Condensed Soft"/>
                <a:cs typeface="Bobby Jones Condensed Soft"/>
                <a:sym typeface="Bobby Jones Condensed Soft"/>
              </a:rPr>
              <a:t>Student</a:t>
            </a:r>
          </a:p>
        </p:txBody>
      </p:sp>
      <p:sp>
        <p:nvSpPr>
          <p:cNvPr name="TextBox 25" id="25"/>
          <p:cNvSpPr txBox="true"/>
          <p:nvPr/>
        </p:nvSpPr>
        <p:spPr>
          <a:xfrm rot="0">
            <a:off x="16522022" y="4304868"/>
            <a:ext cx="1888541" cy="488913"/>
          </a:xfrm>
          <a:prstGeom prst="rect">
            <a:avLst/>
          </a:prstGeom>
        </p:spPr>
        <p:txBody>
          <a:bodyPr anchor="t" rtlCol="false" tIns="0" lIns="0" bIns="0" rIns="0">
            <a:spAutoFit/>
          </a:bodyPr>
          <a:lstStyle/>
          <a:p>
            <a:pPr algn="ctr">
              <a:lnSpc>
                <a:spcPts val="4027"/>
              </a:lnSpc>
              <a:spcBef>
                <a:spcPct val="0"/>
              </a:spcBef>
            </a:pPr>
            <a:r>
              <a:rPr lang="en-US" sz="2876" u="sng">
                <a:solidFill>
                  <a:srgbClr val="06340A"/>
                </a:solidFill>
                <a:latin typeface="Bobby Jones Condensed Soft"/>
                <a:ea typeface="Bobby Jones Condensed Soft"/>
                <a:cs typeface="Bobby Jones Condensed Soft"/>
                <a:sym typeface="Bobby Jones Condensed Soft"/>
              </a:rPr>
              <a:t>INSTRUCTOR</a:t>
            </a:r>
          </a:p>
        </p:txBody>
      </p:sp>
      <p:sp>
        <p:nvSpPr>
          <p:cNvPr name="TextBox 26" id="26"/>
          <p:cNvSpPr txBox="true"/>
          <p:nvPr/>
        </p:nvSpPr>
        <p:spPr>
          <a:xfrm rot="0">
            <a:off x="16624619" y="6864037"/>
            <a:ext cx="1888541" cy="488913"/>
          </a:xfrm>
          <a:prstGeom prst="rect">
            <a:avLst/>
          </a:prstGeom>
        </p:spPr>
        <p:txBody>
          <a:bodyPr anchor="t" rtlCol="false" tIns="0" lIns="0" bIns="0" rIns="0">
            <a:spAutoFit/>
          </a:bodyPr>
          <a:lstStyle/>
          <a:p>
            <a:pPr algn="ctr">
              <a:lnSpc>
                <a:spcPts val="4027"/>
              </a:lnSpc>
              <a:spcBef>
                <a:spcPct val="0"/>
              </a:spcBef>
            </a:pPr>
            <a:r>
              <a:rPr lang="en-US" sz="2876" u="sng">
                <a:solidFill>
                  <a:srgbClr val="06340A"/>
                </a:solidFill>
                <a:latin typeface="Bobby Jones Condensed Soft"/>
                <a:ea typeface="Bobby Jones Condensed Soft"/>
                <a:cs typeface="Bobby Jones Condensed Soft"/>
                <a:sym typeface="Bobby Jones Condensed Soft"/>
              </a:rPr>
              <a:t>admin staff</a:t>
            </a:r>
          </a:p>
        </p:txBody>
      </p:sp>
      <p:sp>
        <p:nvSpPr>
          <p:cNvPr name="Freeform 27" id="27"/>
          <p:cNvSpPr/>
          <p:nvPr/>
        </p:nvSpPr>
        <p:spPr>
          <a:xfrm flipH="false" flipV="false" rot="0">
            <a:off x="10234570" y="2360887"/>
            <a:ext cx="4828964" cy="7926113"/>
          </a:xfrm>
          <a:custGeom>
            <a:avLst/>
            <a:gdLst/>
            <a:ahLst/>
            <a:cxnLst/>
            <a:rect r="r" b="b" t="t" l="l"/>
            <a:pathLst>
              <a:path h="7926113" w="4828964">
                <a:moveTo>
                  <a:pt x="0" y="0"/>
                </a:moveTo>
                <a:lnTo>
                  <a:pt x="4828964" y="0"/>
                </a:lnTo>
                <a:lnTo>
                  <a:pt x="4828964" y="7926113"/>
                </a:lnTo>
                <a:lnTo>
                  <a:pt x="0" y="7926113"/>
                </a:lnTo>
                <a:lnTo>
                  <a:pt x="0" y="0"/>
                </a:lnTo>
                <a:close/>
              </a:path>
            </a:pathLst>
          </a:custGeom>
          <a:blipFill>
            <a:blip r:embed="rId17"/>
            <a:stretch>
              <a:fillRect l="-164" t="0" r="-164"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955185" y="302934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2541203" y="2034889"/>
            <a:ext cx="13896389" cy="1478894"/>
            <a:chOff x="0" y="0"/>
            <a:chExt cx="3659954" cy="389503"/>
          </a:xfrm>
        </p:grpSpPr>
        <p:sp>
          <p:nvSpPr>
            <p:cNvPr name="Freeform 15" id="15"/>
            <p:cNvSpPr/>
            <p:nvPr/>
          </p:nvSpPr>
          <p:spPr>
            <a:xfrm flipH="false" flipV="false" rot="0">
              <a:off x="0" y="0"/>
              <a:ext cx="3659954" cy="389503"/>
            </a:xfrm>
            <a:custGeom>
              <a:avLst/>
              <a:gdLst/>
              <a:ahLst/>
              <a:cxnLst/>
              <a:rect r="r" b="b" t="t" l="l"/>
              <a:pathLst>
                <a:path h="389503" w="3659954">
                  <a:moveTo>
                    <a:pt x="55712" y="0"/>
                  </a:moveTo>
                  <a:lnTo>
                    <a:pt x="3604242" y="0"/>
                  </a:lnTo>
                  <a:cubicBezTo>
                    <a:pt x="3619018" y="0"/>
                    <a:pt x="3633189" y="5870"/>
                    <a:pt x="3643637" y="16318"/>
                  </a:cubicBezTo>
                  <a:cubicBezTo>
                    <a:pt x="3654084" y="26766"/>
                    <a:pt x="3659954" y="40936"/>
                    <a:pt x="3659954" y="55712"/>
                  </a:cubicBezTo>
                  <a:lnTo>
                    <a:pt x="3659954" y="333791"/>
                  </a:lnTo>
                  <a:cubicBezTo>
                    <a:pt x="3659954" y="348567"/>
                    <a:pt x="3654084" y="362737"/>
                    <a:pt x="3643637" y="373185"/>
                  </a:cubicBezTo>
                  <a:cubicBezTo>
                    <a:pt x="3633189" y="383633"/>
                    <a:pt x="3619018" y="389503"/>
                    <a:pt x="3604242" y="389503"/>
                  </a:cubicBezTo>
                  <a:lnTo>
                    <a:pt x="55712" y="389503"/>
                  </a:lnTo>
                  <a:cubicBezTo>
                    <a:pt x="40936" y="389503"/>
                    <a:pt x="26766" y="383633"/>
                    <a:pt x="16318" y="373185"/>
                  </a:cubicBezTo>
                  <a:cubicBezTo>
                    <a:pt x="5870" y="362737"/>
                    <a:pt x="0" y="348567"/>
                    <a:pt x="0" y="333791"/>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7603"/>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468540" y="3898731"/>
            <a:ext cx="13469984" cy="4483464"/>
            <a:chOff x="0" y="0"/>
            <a:chExt cx="3547650" cy="1180830"/>
          </a:xfrm>
        </p:grpSpPr>
        <p:sp>
          <p:nvSpPr>
            <p:cNvPr name="Freeform 18" id="18"/>
            <p:cNvSpPr/>
            <p:nvPr/>
          </p:nvSpPr>
          <p:spPr>
            <a:xfrm flipH="false" flipV="false" rot="0">
              <a:off x="0" y="0"/>
              <a:ext cx="3547650" cy="1180830"/>
            </a:xfrm>
            <a:custGeom>
              <a:avLst/>
              <a:gdLst/>
              <a:ahLst/>
              <a:cxnLst/>
              <a:rect r="r" b="b" t="t" l="l"/>
              <a:pathLst>
                <a:path h="1180830" w="3547650">
                  <a:moveTo>
                    <a:pt x="36209" y="0"/>
                  </a:moveTo>
                  <a:lnTo>
                    <a:pt x="3511441" y="0"/>
                  </a:lnTo>
                  <a:cubicBezTo>
                    <a:pt x="3531439" y="0"/>
                    <a:pt x="3547650" y="16212"/>
                    <a:pt x="3547650" y="36209"/>
                  </a:cubicBezTo>
                  <a:lnTo>
                    <a:pt x="3547650" y="1144620"/>
                  </a:lnTo>
                  <a:cubicBezTo>
                    <a:pt x="3547650" y="1164618"/>
                    <a:pt x="3531439" y="1180830"/>
                    <a:pt x="3511441" y="1180830"/>
                  </a:cubicBezTo>
                  <a:lnTo>
                    <a:pt x="36209" y="1180830"/>
                  </a:lnTo>
                  <a:cubicBezTo>
                    <a:pt x="16212" y="1180830"/>
                    <a:pt x="0" y="1164618"/>
                    <a:pt x="0" y="1144620"/>
                  </a:cubicBezTo>
                  <a:lnTo>
                    <a:pt x="0" y="36209"/>
                  </a:lnTo>
                  <a:cubicBezTo>
                    <a:pt x="0" y="16212"/>
                    <a:pt x="16212" y="0"/>
                    <a:pt x="36209" y="0"/>
                  </a:cubicBezTo>
                  <a:close/>
                </a:path>
              </a:pathLst>
            </a:custGeom>
            <a:solidFill>
              <a:srgbClr val="FDD41C">
                <a:alpha val="44706"/>
              </a:srgbClr>
            </a:solidFill>
          </p:spPr>
        </p:sp>
        <p:sp>
          <p:nvSpPr>
            <p:cNvPr name="TextBox 19" id="19"/>
            <p:cNvSpPr txBox="true"/>
            <p:nvPr/>
          </p:nvSpPr>
          <p:spPr>
            <a:xfrm>
              <a:off x="0" y="-38100"/>
              <a:ext cx="3547650"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31233" y="2714296"/>
            <a:ext cx="4552659" cy="7463376"/>
          </a:xfrm>
          <a:custGeom>
            <a:avLst/>
            <a:gdLst/>
            <a:ahLst/>
            <a:cxnLst/>
            <a:rect r="r" b="b" t="t" l="l"/>
            <a:pathLst>
              <a:path h="7463376" w="4552659">
                <a:moveTo>
                  <a:pt x="0" y="0"/>
                </a:moveTo>
                <a:lnTo>
                  <a:pt x="4552659" y="0"/>
                </a:lnTo>
                <a:lnTo>
                  <a:pt x="4552659" y="7463375"/>
                </a:lnTo>
                <a:lnTo>
                  <a:pt x="0" y="7463375"/>
                </a:lnTo>
                <a:lnTo>
                  <a:pt x="0" y="0"/>
                </a:lnTo>
                <a:close/>
              </a:path>
            </a:pathLst>
          </a:custGeom>
          <a:blipFill>
            <a:blip r:embed="rId6"/>
            <a:stretch>
              <a:fillRect l="0" t="0" r="0" b="0"/>
            </a:stretch>
          </a:blipFill>
        </p:spPr>
      </p:sp>
      <p:grpSp>
        <p:nvGrpSpPr>
          <p:cNvPr name="Group 24" id="24"/>
          <p:cNvGrpSpPr/>
          <p:nvPr/>
        </p:nvGrpSpPr>
        <p:grpSpPr>
          <a:xfrm rot="0">
            <a:off x="4853030" y="3685183"/>
            <a:ext cx="6109737" cy="6271906"/>
            <a:chOff x="0" y="0"/>
            <a:chExt cx="1138075" cy="1168282"/>
          </a:xfrm>
        </p:grpSpPr>
        <p:sp>
          <p:nvSpPr>
            <p:cNvPr name="Freeform 25" id="25"/>
            <p:cNvSpPr/>
            <p:nvPr/>
          </p:nvSpPr>
          <p:spPr>
            <a:xfrm flipH="false" flipV="false" rot="0">
              <a:off x="0" y="0"/>
              <a:ext cx="1138075" cy="1168282"/>
            </a:xfrm>
            <a:custGeom>
              <a:avLst/>
              <a:gdLst/>
              <a:ahLst/>
              <a:cxnLst/>
              <a:rect r="r" b="b" t="t" l="l"/>
              <a:pathLst>
                <a:path h="1168282" w="1138075">
                  <a:moveTo>
                    <a:pt x="44350" y="0"/>
                  </a:moveTo>
                  <a:lnTo>
                    <a:pt x="1093725" y="0"/>
                  </a:lnTo>
                  <a:cubicBezTo>
                    <a:pt x="1105487" y="0"/>
                    <a:pt x="1116768" y="4673"/>
                    <a:pt x="1125085" y="12990"/>
                  </a:cubicBezTo>
                  <a:cubicBezTo>
                    <a:pt x="1133402" y="21307"/>
                    <a:pt x="1138075" y="32588"/>
                    <a:pt x="1138075" y="44350"/>
                  </a:cubicBezTo>
                  <a:lnTo>
                    <a:pt x="1138075" y="1123932"/>
                  </a:lnTo>
                  <a:cubicBezTo>
                    <a:pt x="1138075" y="1135695"/>
                    <a:pt x="1133402" y="1146975"/>
                    <a:pt x="1125085" y="1155293"/>
                  </a:cubicBezTo>
                  <a:cubicBezTo>
                    <a:pt x="1116768" y="1163610"/>
                    <a:pt x="1105487" y="1168282"/>
                    <a:pt x="1093725" y="1168282"/>
                  </a:cubicBezTo>
                  <a:lnTo>
                    <a:pt x="44350" y="1168282"/>
                  </a:lnTo>
                  <a:cubicBezTo>
                    <a:pt x="32588" y="1168282"/>
                    <a:pt x="21307" y="1163610"/>
                    <a:pt x="12990" y="1155293"/>
                  </a:cubicBezTo>
                  <a:cubicBezTo>
                    <a:pt x="4673" y="1146975"/>
                    <a:pt x="0" y="1135695"/>
                    <a:pt x="0" y="1123932"/>
                  </a:cubicBezTo>
                  <a:lnTo>
                    <a:pt x="0" y="44350"/>
                  </a:lnTo>
                  <a:cubicBezTo>
                    <a:pt x="0" y="32588"/>
                    <a:pt x="4673" y="21307"/>
                    <a:pt x="12990" y="12990"/>
                  </a:cubicBezTo>
                  <a:cubicBezTo>
                    <a:pt x="21307" y="4673"/>
                    <a:pt x="32588" y="0"/>
                    <a:pt x="44350" y="0"/>
                  </a:cubicBezTo>
                  <a:close/>
                </a:path>
              </a:pathLst>
            </a:custGeom>
            <a:blipFill>
              <a:blip r:embed="rId7"/>
              <a:stretch>
                <a:fillRect l="-516" t="0" r="-516" b="0"/>
              </a:stretch>
            </a:blipFill>
            <a:ln w="19050" cap="rnd">
              <a:solidFill>
                <a:srgbClr val="000000"/>
              </a:solidFill>
              <a:prstDash val="solid"/>
              <a:round/>
            </a:ln>
          </p:spPr>
        </p:sp>
      </p:grpSp>
      <p:sp>
        <p:nvSpPr>
          <p:cNvPr name="TextBox 26" id="26"/>
          <p:cNvSpPr txBox="true"/>
          <p:nvPr/>
        </p:nvSpPr>
        <p:spPr>
          <a:xfrm rot="0">
            <a:off x="11051050" y="1815814"/>
            <a:ext cx="7083046"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access flow</a:t>
            </a:r>
          </a:p>
        </p:txBody>
      </p:sp>
      <p:sp>
        <p:nvSpPr>
          <p:cNvPr name="TextBox 27" id="27"/>
          <p:cNvSpPr txBox="true"/>
          <p:nvPr/>
        </p:nvSpPr>
        <p:spPr>
          <a:xfrm rot="0">
            <a:off x="11218879" y="4165433"/>
            <a:ext cx="6747388" cy="3033395"/>
          </a:xfrm>
          <a:prstGeom prst="rect">
            <a:avLst/>
          </a:prstGeom>
        </p:spPr>
        <p:txBody>
          <a:bodyPr anchor="t" rtlCol="false" tIns="0" lIns="0" bIns="0" rIns="0">
            <a:spAutoFit/>
          </a:bodyPr>
          <a:lstStyle/>
          <a:p>
            <a:pPr algn="just">
              <a:lnSpc>
                <a:spcPts val="4480"/>
              </a:lnSpc>
              <a:spcBef>
                <a:spcPct val="0"/>
              </a:spcBef>
            </a:pPr>
            <a:r>
              <a:rPr lang="en-US" sz="3200">
                <a:solidFill>
                  <a:srgbClr val="19120C"/>
                </a:solidFill>
                <a:latin typeface="Jella"/>
                <a:ea typeface="Jella"/>
                <a:cs typeface="Jella"/>
                <a:sym typeface="Jella"/>
              </a:rPr>
              <a:t> </a:t>
            </a:r>
            <a:r>
              <a:rPr lang="en-US" sz="3200">
                <a:solidFill>
                  <a:srgbClr val="19120C"/>
                </a:solidFill>
                <a:latin typeface="Jella"/>
                <a:ea typeface="Jella"/>
                <a:cs typeface="Jella"/>
                <a:sym typeface="Jella"/>
              </a:rPr>
              <a:t>T</a:t>
            </a:r>
            <a:r>
              <a:rPr lang="en-US" sz="3200">
                <a:solidFill>
                  <a:srgbClr val="19120C"/>
                </a:solidFill>
                <a:latin typeface="Jella"/>
                <a:ea typeface="Jella"/>
                <a:cs typeface="Jella"/>
                <a:sym typeface="Jella"/>
              </a:rPr>
              <a:t>o access the system, users must enter their username and password. After providing these credentials, they simply click the Login button to continue.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5498023" y="818262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3829638" y="2093403"/>
            <a:ext cx="12607954" cy="1405640"/>
            <a:chOff x="0" y="0"/>
            <a:chExt cx="3320613" cy="370210"/>
          </a:xfrm>
        </p:grpSpPr>
        <p:sp>
          <p:nvSpPr>
            <p:cNvPr name="Freeform 13" id="13"/>
            <p:cNvSpPr/>
            <p:nvPr/>
          </p:nvSpPr>
          <p:spPr>
            <a:xfrm flipH="false" flipV="false" rot="0">
              <a:off x="0" y="0"/>
              <a:ext cx="3320613" cy="370210"/>
            </a:xfrm>
            <a:custGeom>
              <a:avLst/>
              <a:gdLst/>
              <a:ahLst/>
              <a:cxnLst/>
              <a:rect r="r" b="b" t="t" l="l"/>
              <a:pathLst>
                <a:path h="370210" w="3320613">
                  <a:moveTo>
                    <a:pt x="61405" y="0"/>
                  </a:moveTo>
                  <a:lnTo>
                    <a:pt x="3259208" y="0"/>
                  </a:lnTo>
                  <a:cubicBezTo>
                    <a:pt x="3293121" y="0"/>
                    <a:pt x="3320613" y="27492"/>
                    <a:pt x="3320613" y="61405"/>
                  </a:cubicBezTo>
                  <a:lnTo>
                    <a:pt x="3320613" y="308805"/>
                  </a:lnTo>
                  <a:cubicBezTo>
                    <a:pt x="3320613" y="342718"/>
                    <a:pt x="3293121" y="370210"/>
                    <a:pt x="3259208" y="370210"/>
                  </a:cubicBezTo>
                  <a:lnTo>
                    <a:pt x="61405" y="370210"/>
                  </a:lnTo>
                  <a:cubicBezTo>
                    <a:pt x="27492" y="370210"/>
                    <a:pt x="0" y="342718"/>
                    <a:pt x="0" y="308805"/>
                  </a:cubicBezTo>
                  <a:lnTo>
                    <a:pt x="0" y="61405"/>
                  </a:lnTo>
                  <a:cubicBezTo>
                    <a:pt x="0" y="27492"/>
                    <a:pt x="27492" y="0"/>
                    <a:pt x="61405" y="0"/>
                  </a:cubicBezTo>
                  <a:close/>
                </a:path>
              </a:pathLst>
            </a:custGeom>
            <a:solidFill>
              <a:srgbClr val="FDD41C">
                <a:alpha val="77647"/>
              </a:srgbClr>
            </a:solidFill>
          </p:spPr>
        </p:sp>
        <p:sp>
          <p:nvSpPr>
            <p:cNvPr name="TextBox 14" id="14"/>
            <p:cNvSpPr txBox="true"/>
            <p:nvPr/>
          </p:nvSpPr>
          <p:spPr>
            <a:xfrm>
              <a:off x="0" y="-38100"/>
              <a:ext cx="3320613" cy="40831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690117" y="3873786"/>
            <a:ext cx="12607954" cy="4846697"/>
            <a:chOff x="0" y="0"/>
            <a:chExt cx="3320613" cy="1276496"/>
          </a:xfrm>
        </p:grpSpPr>
        <p:sp>
          <p:nvSpPr>
            <p:cNvPr name="Freeform 16" id="16"/>
            <p:cNvSpPr/>
            <p:nvPr/>
          </p:nvSpPr>
          <p:spPr>
            <a:xfrm flipH="false" flipV="false" rot="0">
              <a:off x="0" y="0"/>
              <a:ext cx="3320613" cy="1276496"/>
            </a:xfrm>
            <a:custGeom>
              <a:avLst/>
              <a:gdLst/>
              <a:ahLst/>
              <a:cxnLst/>
              <a:rect r="r" b="b" t="t" l="l"/>
              <a:pathLst>
                <a:path h="1276496" w="3320613">
                  <a:moveTo>
                    <a:pt x="38685" y="0"/>
                  </a:moveTo>
                  <a:lnTo>
                    <a:pt x="3281928" y="0"/>
                  </a:lnTo>
                  <a:cubicBezTo>
                    <a:pt x="3303293" y="0"/>
                    <a:pt x="3320613" y="17320"/>
                    <a:pt x="3320613" y="38685"/>
                  </a:cubicBezTo>
                  <a:lnTo>
                    <a:pt x="3320613" y="1237811"/>
                  </a:lnTo>
                  <a:cubicBezTo>
                    <a:pt x="3320613" y="1259176"/>
                    <a:pt x="3303293" y="1276496"/>
                    <a:pt x="3281928" y="1276496"/>
                  </a:cubicBezTo>
                  <a:lnTo>
                    <a:pt x="38685" y="1276496"/>
                  </a:lnTo>
                  <a:cubicBezTo>
                    <a:pt x="17320" y="1276496"/>
                    <a:pt x="0" y="1259176"/>
                    <a:pt x="0" y="1237811"/>
                  </a:cubicBezTo>
                  <a:lnTo>
                    <a:pt x="0" y="38685"/>
                  </a:lnTo>
                  <a:cubicBezTo>
                    <a:pt x="0" y="17320"/>
                    <a:pt x="17320" y="0"/>
                    <a:pt x="38685" y="0"/>
                  </a:cubicBezTo>
                  <a:close/>
                </a:path>
              </a:pathLst>
            </a:custGeom>
            <a:solidFill>
              <a:srgbClr val="FDD41C">
                <a:alpha val="44706"/>
              </a:srgbClr>
            </a:solidFill>
          </p:spPr>
        </p:sp>
        <p:sp>
          <p:nvSpPr>
            <p:cNvPr name="TextBox 17" id="17"/>
            <p:cNvSpPr txBox="true"/>
            <p:nvPr/>
          </p:nvSpPr>
          <p:spPr>
            <a:xfrm>
              <a:off x="0" y="-38100"/>
              <a:ext cx="3320613" cy="1314596"/>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718153">
            <a:off x="-1409048" y="1931378"/>
            <a:ext cx="5085590" cy="7993069"/>
          </a:xfrm>
          <a:custGeom>
            <a:avLst/>
            <a:gdLst/>
            <a:ahLst/>
            <a:cxnLst/>
            <a:rect r="r" b="b" t="t" l="l"/>
            <a:pathLst>
              <a:path h="7993069" w="5085590">
                <a:moveTo>
                  <a:pt x="0" y="0"/>
                </a:moveTo>
                <a:lnTo>
                  <a:pt x="5085591" y="0"/>
                </a:lnTo>
                <a:lnTo>
                  <a:pt x="5085591" y="7993070"/>
                </a:lnTo>
                <a:lnTo>
                  <a:pt x="0" y="7993070"/>
                </a:lnTo>
                <a:lnTo>
                  <a:pt x="0" y="0"/>
                </a:lnTo>
                <a:close/>
              </a:path>
            </a:pathLst>
          </a:custGeom>
          <a:blipFill>
            <a:blip r:embed="rId6"/>
            <a:stretch>
              <a:fillRect l="0" t="0" r="0" b="0"/>
            </a:stretch>
          </a:blipFill>
        </p:spPr>
      </p:sp>
      <p:sp>
        <p:nvSpPr>
          <p:cNvPr name="TextBox 22" id="22"/>
          <p:cNvSpPr txBox="true"/>
          <p:nvPr/>
        </p:nvSpPr>
        <p:spPr>
          <a:xfrm rot="0">
            <a:off x="10484978" y="1818833"/>
            <a:ext cx="6261823"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STUDENT</a:t>
            </a:r>
            <a:r>
              <a:rPr lang="en-US" sz="9600">
                <a:solidFill>
                  <a:srgbClr val="000000"/>
                </a:solidFill>
                <a:latin typeface="Bobby Jones Condensed Soft"/>
                <a:ea typeface="Bobby Jones Condensed Soft"/>
                <a:cs typeface="Bobby Jones Condensed Soft"/>
                <a:sym typeface="Bobby Jones Condensed Soft"/>
              </a:rPr>
              <a:t> FORM</a:t>
            </a:r>
          </a:p>
        </p:txBody>
      </p:sp>
      <p:sp>
        <p:nvSpPr>
          <p:cNvPr name="TextBox 23" id="23"/>
          <p:cNvSpPr txBox="true"/>
          <p:nvPr/>
        </p:nvSpPr>
        <p:spPr>
          <a:xfrm rot="0">
            <a:off x="12129708" y="4182463"/>
            <a:ext cx="6063050" cy="3700646"/>
          </a:xfrm>
          <a:prstGeom prst="rect">
            <a:avLst/>
          </a:prstGeom>
        </p:spPr>
        <p:txBody>
          <a:bodyPr anchor="t" rtlCol="false" tIns="0" lIns="0" bIns="0" rIns="0">
            <a:spAutoFit/>
          </a:bodyPr>
          <a:lstStyle/>
          <a:p>
            <a:pPr algn="just">
              <a:lnSpc>
                <a:spcPts val="2831"/>
              </a:lnSpc>
              <a:spcBef>
                <a:spcPct val="0"/>
              </a:spcBef>
            </a:pPr>
            <a:r>
              <a:rPr lang="en-US" sz="2022">
                <a:solidFill>
                  <a:srgbClr val="19120C"/>
                </a:solidFill>
                <a:latin typeface="Jella"/>
                <a:ea typeface="Jella"/>
                <a:cs typeface="Jella"/>
                <a:sym typeface="Jella"/>
              </a:rPr>
              <a:t> </a:t>
            </a:r>
            <a:r>
              <a:rPr lang="en-US" sz="2022">
                <a:solidFill>
                  <a:srgbClr val="19120C"/>
                </a:solidFill>
                <a:latin typeface="Jella"/>
                <a:ea typeface="Jella"/>
                <a:cs typeface="Jella"/>
                <a:sym typeface="Jella"/>
              </a:rPr>
              <a:t>If th</a:t>
            </a:r>
            <a:r>
              <a:rPr lang="en-US" sz="2022">
                <a:solidFill>
                  <a:srgbClr val="19120C"/>
                </a:solidFill>
                <a:latin typeface="Jella"/>
                <a:ea typeface="Jella"/>
                <a:cs typeface="Jella"/>
                <a:sym typeface="Jella"/>
              </a:rPr>
              <a:t>e user is a student, the system will redirect them to the Student Form, where they can view and manage their academic information. This form provides access to essential details such as enrolled courses, grades, and department records, helping students stay organized. By guiding students directly to their personalized dashboard, the system ensures secure access and smooth navigation for academic tasks.</a:t>
            </a:r>
          </a:p>
        </p:txBody>
      </p:sp>
      <p:grpSp>
        <p:nvGrpSpPr>
          <p:cNvPr name="Group 24" id="24"/>
          <p:cNvGrpSpPr/>
          <p:nvPr/>
        </p:nvGrpSpPr>
        <p:grpSpPr>
          <a:xfrm rot="0">
            <a:off x="3977626" y="4403244"/>
            <a:ext cx="8053380" cy="3824249"/>
            <a:chOff x="0" y="0"/>
            <a:chExt cx="3457046" cy="1641622"/>
          </a:xfrm>
        </p:grpSpPr>
        <p:sp>
          <p:nvSpPr>
            <p:cNvPr name="Freeform 25" id="25"/>
            <p:cNvSpPr/>
            <p:nvPr/>
          </p:nvSpPr>
          <p:spPr>
            <a:xfrm flipH="false" flipV="false" rot="0">
              <a:off x="0" y="0"/>
              <a:ext cx="3457046" cy="1641622"/>
            </a:xfrm>
            <a:custGeom>
              <a:avLst/>
              <a:gdLst/>
              <a:ahLst/>
              <a:cxnLst/>
              <a:rect r="r" b="b" t="t" l="l"/>
              <a:pathLst>
                <a:path h="1641622" w="3457046">
                  <a:moveTo>
                    <a:pt x="33646" y="0"/>
                  </a:moveTo>
                  <a:lnTo>
                    <a:pt x="3423400" y="0"/>
                  </a:lnTo>
                  <a:cubicBezTo>
                    <a:pt x="3441983" y="0"/>
                    <a:pt x="3457046" y="15064"/>
                    <a:pt x="3457046" y="33646"/>
                  </a:cubicBezTo>
                  <a:lnTo>
                    <a:pt x="3457046" y="1607976"/>
                  </a:lnTo>
                  <a:cubicBezTo>
                    <a:pt x="3457046" y="1626558"/>
                    <a:pt x="3441983" y="1641622"/>
                    <a:pt x="3423400" y="1641622"/>
                  </a:cubicBezTo>
                  <a:lnTo>
                    <a:pt x="33646" y="1641622"/>
                  </a:lnTo>
                  <a:cubicBezTo>
                    <a:pt x="15064" y="1641622"/>
                    <a:pt x="0" y="1626558"/>
                    <a:pt x="0" y="1607976"/>
                  </a:cubicBezTo>
                  <a:lnTo>
                    <a:pt x="0" y="33646"/>
                  </a:lnTo>
                  <a:cubicBezTo>
                    <a:pt x="0" y="15064"/>
                    <a:pt x="15064" y="0"/>
                    <a:pt x="33646" y="0"/>
                  </a:cubicBezTo>
                  <a:close/>
                </a:path>
              </a:pathLst>
            </a:custGeom>
            <a:blipFill>
              <a:blip r:embed="rId7"/>
              <a:stretch>
                <a:fillRect l="0" t="-732" r="0" b="-732"/>
              </a:stretch>
            </a:blipFill>
            <a:ln w="28575" cap="rnd">
              <a:solidFill>
                <a:srgbClr val="000000"/>
              </a:solidFill>
              <a:prstDash val="solid"/>
              <a:round/>
            </a:ln>
          </p:spPr>
        </p:sp>
      </p:grpSp>
      <p:sp>
        <p:nvSpPr>
          <p:cNvPr name="Freeform 26" id="26"/>
          <p:cNvSpPr/>
          <p:nvPr/>
        </p:nvSpPr>
        <p:spPr>
          <a:xfrm flipH="false" flipV="false" rot="-1329709">
            <a:off x="11548599" y="8456595"/>
            <a:ext cx="964814" cy="927976"/>
          </a:xfrm>
          <a:custGeom>
            <a:avLst/>
            <a:gdLst/>
            <a:ahLst/>
            <a:cxnLst/>
            <a:rect r="r" b="b" t="t" l="l"/>
            <a:pathLst>
              <a:path h="927976" w="964814">
                <a:moveTo>
                  <a:pt x="0" y="0"/>
                </a:moveTo>
                <a:lnTo>
                  <a:pt x="964815" y="0"/>
                </a:lnTo>
                <a:lnTo>
                  <a:pt x="964815"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147697"/>
            <a:ext cx="964814" cy="927976"/>
          </a:xfrm>
          <a:custGeom>
            <a:avLst/>
            <a:gdLst/>
            <a:ahLst/>
            <a:cxnLst/>
            <a:rect r="r" b="b" t="t" l="l"/>
            <a:pathLst>
              <a:path h="927976" w="964814">
                <a:moveTo>
                  <a:pt x="0" y="0"/>
                </a:moveTo>
                <a:lnTo>
                  <a:pt x="964815" y="0"/>
                </a:lnTo>
                <a:lnTo>
                  <a:pt x="964815"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3896389" cy="1466349"/>
            <a:chOff x="0" y="0"/>
            <a:chExt cx="3659954" cy="386199"/>
          </a:xfrm>
        </p:grpSpPr>
        <p:sp>
          <p:nvSpPr>
            <p:cNvPr name="Freeform 15" id="15"/>
            <p:cNvSpPr/>
            <p:nvPr/>
          </p:nvSpPr>
          <p:spPr>
            <a:xfrm flipH="false" flipV="false" rot="0">
              <a:off x="0" y="0"/>
              <a:ext cx="3659954" cy="386199"/>
            </a:xfrm>
            <a:custGeom>
              <a:avLst/>
              <a:gdLst/>
              <a:ahLst/>
              <a:cxnLst/>
              <a:rect r="r" b="b" t="t" l="l"/>
              <a:pathLst>
                <a:path h="386199" w="3659954">
                  <a:moveTo>
                    <a:pt x="55712" y="0"/>
                  </a:moveTo>
                  <a:lnTo>
                    <a:pt x="3604242" y="0"/>
                  </a:lnTo>
                  <a:cubicBezTo>
                    <a:pt x="3619018" y="0"/>
                    <a:pt x="3633189" y="5870"/>
                    <a:pt x="3643637" y="16318"/>
                  </a:cubicBezTo>
                  <a:cubicBezTo>
                    <a:pt x="3654084" y="26766"/>
                    <a:pt x="3659954" y="40936"/>
                    <a:pt x="3659954" y="55712"/>
                  </a:cubicBezTo>
                  <a:lnTo>
                    <a:pt x="3659954" y="330487"/>
                  </a:lnTo>
                  <a:cubicBezTo>
                    <a:pt x="3659954" y="345263"/>
                    <a:pt x="3654084" y="359433"/>
                    <a:pt x="3643637" y="369881"/>
                  </a:cubicBezTo>
                  <a:cubicBezTo>
                    <a:pt x="3633189" y="380329"/>
                    <a:pt x="3619018" y="386199"/>
                    <a:pt x="3604242" y="386199"/>
                  </a:cubicBezTo>
                  <a:lnTo>
                    <a:pt x="55712" y="386199"/>
                  </a:lnTo>
                  <a:cubicBezTo>
                    <a:pt x="40936" y="386199"/>
                    <a:pt x="26766" y="380329"/>
                    <a:pt x="16318" y="369881"/>
                  </a:cubicBezTo>
                  <a:cubicBezTo>
                    <a:pt x="5870" y="359433"/>
                    <a:pt x="0" y="345263"/>
                    <a:pt x="0" y="330487"/>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429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24561" y="3988414"/>
            <a:ext cx="13896389" cy="4483464"/>
            <a:chOff x="0" y="0"/>
            <a:chExt cx="3659954" cy="1180830"/>
          </a:xfrm>
        </p:grpSpPr>
        <p:sp>
          <p:nvSpPr>
            <p:cNvPr name="Freeform 18" id="18"/>
            <p:cNvSpPr/>
            <p:nvPr/>
          </p:nvSpPr>
          <p:spPr>
            <a:xfrm flipH="false" flipV="false" rot="0">
              <a:off x="0" y="0"/>
              <a:ext cx="3659954" cy="1180830"/>
            </a:xfrm>
            <a:custGeom>
              <a:avLst/>
              <a:gdLst/>
              <a:ahLst/>
              <a:cxnLst/>
              <a:rect r="r" b="b" t="t" l="l"/>
              <a:pathLst>
                <a:path h="1180830" w="3659954">
                  <a:moveTo>
                    <a:pt x="35098" y="0"/>
                  </a:moveTo>
                  <a:lnTo>
                    <a:pt x="3624856" y="0"/>
                  </a:lnTo>
                  <a:cubicBezTo>
                    <a:pt x="3634164" y="0"/>
                    <a:pt x="3643092" y="3698"/>
                    <a:pt x="3649674" y="10280"/>
                  </a:cubicBezTo>
                  <a:cubicBezTo>
                    <a:pt x="3656256" y="16862"/>
                    <a:pt x="3659954" y="25790"/>
                    <a:pt x="3659954" y="35098"/>
                  </a:cubicBezTo>
                  <a:lnTo>
                    <a:pt x="3659954" y="1145731"/>
                  </a:lnTo>
                  <a:cubicBezTo>
                    <a:pt x="3659954" y="1155040"/>
                    <a:pt x="3656256" y="1163968"/>
                    <a:pt x="3649674" y="1170550"/>
                  </a:cubicBezTo>
                  <a:cubicBezTo>
                    <a:pt x="3643092" y="1177132"/>
                    <a:pt x="3634164" y="1180830"/>
                    <a:pt x="3624856" y="1180830"/>
                  </a:cubicBezTo>
                  <a:lnTo>
                    <a:pt x="35098" y="1180830"/>
                  </a:lnTo>
                  <a:cubicBezTo>
                    <a:pt x="15714" y="1180830"/>
                    <a:pt x="0" y="1165116"/>
                    <a:pt x="0" y="1145731"/>
                  </a:cubicBezTo>
                  <a:lnTo>
                    <a:pt x="0" y="35098"/>
                  </a:lnTo>
                  <a:cubicBezTo>
                    <a:pt x="0" y="25790"/>
                    <a:pt x="3698" y="16862"/>
                    <a:pt x="10280" y="10280"/>
                  </a:cubicBezTo>
                  <a:cubicBezTo>
                    <a:pt x="16862" y="3698"/>
                    <a:pt x="25790" y="0"/>
                    <a:pt x="35098" y="0"/>
                  </a:cubicBezTo>
                  <a:close/>
                </a:path>
              </a:pathLst>
            </a:custGeom>
            <a:solidFill>
              <a:srgbClr val="FDD41C">
                <a:alpha val="44706"/>
              </a:srgbClr>
            </a:solidFill>
          </p:spPr>
        </p:sp>
        <p:sp>
          <p:nvSpPr>
            <p:cNvPr name="TextBox 19" id="19"/>
            <p:cNvSpPr txBox="true"/>
            <p:nvPr/>
          </p:nvSpPr>
          <p:spPr>
            <a:xfrm>
              <a:off x="0" y="-38100"/>
              <a:ext cx="3659954"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2265211" y="1764653"/>
            <a:ext cx="6261823"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enroll</a:t>
            </a:r>
            <a:r>
              <a:rPr lang="en-US" sz="9600">
                <a:solidFill>
                  <a:srgbClr val="000000"/>
                </a:solidFill>
                <a:latin typeface="Bobby Jones Condensed Soft"/>
                <a:ea typeface="Bobby Jones Condensed Soft"/>
                <a:cs typeface="Bobby Jones Condensed Soft"/>
                <a:sym typeface="Bobby Jones Condensed Soft"/>
              </a:rPr>
              <a:t> </a:t>
            </a:r>
          </a:p>
        </p:txBody>
      </p:sp>
      <p:sp>
        <p:nvSpPr>
          <p:cNvPr name="TextBox 24" id="24"/>
          <p:cNvSpPr txBox="true"/>
          <p:nvPr/>
        </p:nvSpPr>
        <p:spPr>
          <a:xfrm rot="0">
            <a:off x="2265211" y="4690801"/>
            <a:ext cx="4553157" cy="2385060"/>
          </a:xfrm>
          <a:prstGeom prst="rect">
            <a:avLst/>
          </a:prstGeom>
        </p:spPr>
        <p:txBody>
          <a:bodyPr anchor="t" rtlCol="false" tIns="0" lIns="0" bIns="0" rIns="0">
            <a:spAutoFit/>
          </a:bodyPr>
          <a:lstStyle/>
          <a:p>
            <a:pPr algn="just">
              <a:lnSpc>
                <a:spcPts val="2940"/>
              </a:lnSpc>
              <a:spcBef>
                <a:spcPct val="0"/>
              </a:spcBef>
            </a:pPr>
            <a:r>
              <a:rPr lang="en-US" sz="2100">
                <a:solidFill>
                  <a:srgbClr val="19120C"/>
                </a:solidFill>
                <a:latin typeface="Jella"/>
                <a:ea typeface="Jella"/>
                <a:cs typeface="Jella"/>
                <a:sym typeface="Jella"/>
              </a:rPr>
              <a:t>In this section, students can track the courses they have successfully enrolled into, providing a centralized view of their current and historical academic schedule.</a:t>
            </a:r>
          </a:p>
        </p:txBody>
      </p:sp>
      <p:sp>
        <p:nvSpPr>
          <p:cNvPr name="Freeform 25" id="25"/>
          <p:cNvSpPr/>
          <p:nvPr/>
        </p:nvSpPr>
        <p:spPr>
          <a:xfrm flipH="false" flipV="false" rot="0">
            <a:off x="7103157" y="4407372"/>
            <a:ext cx="7624800" cy="3645548"/>
          </a:xfrm>
          <a:custGeom>
            <a:avLst/>
            <a:gdLst/>
            <a:ahLst/>
            <a:cxnLst/>
            <a:rect r="r" b="b" t="t" l="l"/>
            <a:pathLst>
              <a:path h="3645548" w="7624800">
                <a:moveTo>
                  <a:pt x="0" y="0"/>
                </a:moveTo>
                <a:lnTo>
                  <a:pt x="7624801" y="0"/>
                </a:lnTo>
                <a:lnTo>
                  <a:pt x="7624801" y="3645548"/>
                </a:lnTo>
                <a:lnTo>
                  <a:pt x="0" y="3645548"/>
                </a:lnTo>
                <a:lnTo>
                  <a:pt x="0" y="0"/>
                </a:lnTo>
                <a:close/>
              </a:path>
            </a:pathLst>
          </a:custGeom>
          <a:blipFill>
            <a:blip r:embed="rId6"/>
            <a:stretch>
              <a:fillRect l="-1052" t="0" r="-1052" b="0"/>
            </a:stretch>
          </a:blipFill>
        </p:spPr>
      </p:sp>
      <p:sp>
        <p:nvSpPr>
          <p:cNvPr name="Freeform 26" id="26"/>
          <p:cNvSpPr/>
          <p:nvPr/>
        </p:nvSpPr>
        <p:spPr>
          <a:xfrm flipH="false" flipV="false" rot="-676244">
            <a:off x="14326194" y="2314791"/>
            <a:ext cx="5696841" cy="7830710"/>
          </a:xfrm>
          <a:custGeom>
            <a:avLst/>
            <a:gdLst/>
            <a:ahLst/>
            <a:cxnLst/>
            <a:rect r="r" b="b" t="t" l="l"/>
            <a:pathLst>
              <a:path h="7830710" w="5696841">
                <a:moveTo>
                  <a:pt x="0" y="0"/>
                </a:moveTo>
                <a:lnTo>
                  <a:pt x="5696842" y="0"/>
                </a:lnTo>
                <a:lnTo>
                  <a:pt x="5696842" y="7830710"/>
                </a:lnTo>
                <a:lnTo>
                  <a:pt x="0" y="7830710"/>
                </a:lnTo>
                <a:lnTo>
                  <a:pt x="0" y="0"/>
                </a:lnTo>
                <a:close/>
              </a:path>
            </a:pathLst>
          </a:custGeom>
          <a:blipFill>
            <a:blip r:embed="rId7"/>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7803500" y="1540142"/>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1511479" y="209069"/>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6776893" y="3292498"/>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8039798" y="7364112"/>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974226"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1329709">
            <a:off x="1398777" y="9779528"/>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84680" y="3990587"/>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2265135" y="2572475"/>
            <a:ext cx="8955645" cy="4837250"/>
          </a:xfrm>
          <a:prstGeom prst="rect">
            <a:avLst/>
          </a:prstGeom>
        </p:spPr>
        <p:txBody>
          <a:bodyPr anchor="t" rtlCol="false" tIns="0" lIns="0" bIns="0" rIns="0">
            <a:spAutoFit/>
          </a:bodyPr>
          <a:lstStyle/>
          <a:p>
            <a:pPr algn="just">
              <a:lnSpc>
                <a:spcPts val="19240"/>
              </a:lnSpc>
            </a:pPr>
            <a:r>
              <a:rPr lang="en-US" sz="13743">
                <a:solidFill>
                  <a:srgbClr val="06340A"/>
                </a:solidFill>
                <a:latin typeface="Bobby Jones Condensed Soft"/>
                <a:ea typeface="Bobby Jones Condensed Soft"/>
                <a:cs typeface="Bobby Jones Condensed Soft"/>
                <a:sym typeface="Bobby Jones Condensed Soft"/>
              </a:rPr>
              <a:t>guide for </a:t>
            </a:r>
          </a:p>
          <a:p>
            <a:pPr algn="just">
              <a:lnSpc>
                <a:spcPts val="19240"/>
              </a:lnSpc>
            </a:pPr>
            <a:r>
              <a:rPr lang="en-US" sz="13743">
                <a:solidFill>
                  <a:srgbClr val="06340A"/>
                </a:solidFill>
                <a:latin typeface="Bobby Jones Condensed Soft"/>
                <a:ea typeface="Bobby Jones Condensed Soft"/>
                <a:cs typeface="Bobby Jones Condensed Soft"/>
                <a:sym typeface="Bobby Jones Condensed Soft"/>
              </a:rPr>
              <a:t>instructors </a:t>
            </a:r>
          </a:p>
        </p:txBody>
      </p:sp>
      <p:sp>
        <p:nvSpPr>
          <p:cNvPr name="Freeform 16" id="16"/>
          <p:cNvSpPr/>
          <p:nvPr/>
        </p:nvSpPr>
        <p:spPr>
          <a:xfrm flipH="false" flipV="false" rot="0">
            <a:off x="4861232" y="964003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329709">
            <a:off x="17772082" y="65602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a:hlinkClick r:id="rId8" action="ppaction://hlinksldjump"/>
          </p:cNvPr>
          <p:cNvSpPr/>
          <p:nvPr/>
        </p:nvSpPr>
        <p:spPr>
          <a:xfrm flipH="false" flipV="false" rot="5400000">
            <a:off x="16026390" y="1348471"/>
            <a:ext cx="2398799" cy="2683970"/>
          </a:xfrm>
          <a:custGeom>
            <a:avLst/>
            <a:gdLst/>
            <a:ahLst/>
            <a:cxnLst/>
            <a:rect r="r" b="b" t="t" l="l"/>
            <a:pathLst>
              <a:path h="2683970" w="2398799">
                <a:moveTo>
                  <a:pt x="0" y="0"/>
                </a:moveTo>
                <a:lnTo>
                  <a:pt x="2398799" y="0"/>
                </a:lnTo>
                <a:lnTo>
                  <a:pt x="2398799" y="2683971"/>
                </a:lnTo>
                <a:lnTo>
                  <a:pt x="0" y="26839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a:hlinkClick r:id="rId9" action="ppaction://hlinksldjump"/>
          </p:cNvPr>
          <p:cNvSpPr/>
          <p:nvPr/>
        </p:nvSpPr>
        <p:spPr>
          <a:xfrm flipH="false" flipV="false" rot="5400000">
            <a:off x="16026390" y="3903036"/>
            <a:ext cx="2398799" cy="2683970"/>
          </a:xfrm>
          <a:custGeom>
            <a:avLst/>
            <a:gdLst/>
            <a:ahLst/>
            <a:cxnLst/>
            <a:rect r="r" b="b" t="t" l="l"/>
            <a:pathLst>
              <a:path h="2683970" w="2398799">
                <a:moveTo>
                  <a:pt x="0" y="0"/>
                </a:moveTo>
                <a:lnTo>
                  <a:pt x="2398799" y="0"/>
                </a:lnTo>
                <a:lnTo>
                  <a:pt x="2398799" y="2683970"/>
                </a:lnTo>
                <a:lnTo>
                  <a:pt x="0" y="2683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a:hlinkClick r:id="rId10" action="ppaction://hlinksldjump"/>
          </p:cNvPr>
          <p:cNvSpPr/>
          <p:nvPr/>
        </p:nvSpPr>
        <p:spPr>
          <a:xfrm flipH="false" flipV="false" rot="5400000">
            <a:off x="16127908" y="6454234"/>
            <a:ext cx="2398799" cy="2683970"/>
          </a:xfrm>
          <a:custGeom>
            <a:avLst/>
            <a:gdLst/>
            <a:ahLst/>
            <a:cxnLst/>
            <a:rect r="r" b="b" t="t" l="l"/>
            <a:pathLst>
              <a:path h="2683970" w="2398799">
                <a:moveTo>
                  <a:pt x="0" y="0"/>
                </a:moveTo>
                <a:lnTo>
                  <a:pt x="2398799" y="0"/>
                </a:lnTo>
                <a:lnTo>
                  <a:pt x="2398799" y="2683971"/>
                </a:lnTo>
                <a:lnTo>
                  <a:pt x="0" y="26839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a:hlinkClick r:id="rId10" action="ppaction://hlinksldjump"/>
          </p:cNvPr>
          <p:cNvSpPr/>
          <p:nvPr/>
        </p:nvSpPr>
        <p:spPr>
          <a:xfrm flipH="false" flipV="false" rot="0">
            <a:off x="17293137" y="7507329"/>
            <a:ext cx="679114" cy="1098567"/>
          </a:xfrm>
          <a:custGeom>
            <a:avLst/>
            <a:gdLst/>
            <a:ahLst/>
            <a:cxnLst/>
            <a:rect r="r" b="b" t="t" l="l"/>
            <a:pathLst>
              <a:path h="1098567" w="679114">
                <a:moveTo>
                  <a:pt x="0" y="0"/>
                </a:moveTo>
                <a:lnTo>
                  <a:pt x="679114" y="0"/>
                </a:lnTo>
                <a:lnTo>
                  <a:pt x="679114" y="1098567"/>
                </a:lnTo>
                <a:lnTo>
                  <a:pt x="0" y="10985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a:hlinkClick r:id="rId9" action="ppaction://hlinksldjump"/>
          </p:cNvPr>
          <p:cNvSpPr/>
          <p:nvPr/>
        </p:nvSpPr>
        <p:spPr>
          <a:xfrm flipH="false" flipV="false" rot="0">
            <a:off x="16914551" y="4800468"/>
            <a:ext cx="1241656" cy="1280058"/>
          </a:xfrm>
          <a:custGeom>
            <a:avLst/>
            <a:gdLst/>
            <a:ahLst/>
            <a:cxnLst/>
            <a:rect r="r" b="b" t="t" l="l"/>
            <a:pathLst>
              <a:path h="1280058" w="1241656">
                <a:moveTo>
                  <a:pt x="0" y="0"/>
                </a:moveTo>
                <a:lnTo>
                  <a:pt x="1241656" y="0"/>
                </a:lnTo>
                <a:lnTo>
                  <a:pt x="1241656" y="1280058"/>
                </a:lnTo>
                <a:lnTo>
                  <a:pt x="0" y="128005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a:hlinkClick r:id="rId8" action="ppaction://hlinksldjump"/>
          </p:cNvPr>
          <p:cNvSpPr/>
          <p:nvPr/>
        </p:nvSpPr>
        <p:spPr>
          <a:xfrm flipH="false" flipV="false" rot="0">
            <a:off x="17098426" y="2390051"/>
            <a:ext cx="668710" cy="1131664"/>
          </a:xfrm>
          <a:custGeom>
            <a:avLst/>
            <a:gdLst/>
            <a:ahLst/>
            <a:cxnLst/>
            <a:rect r="r" b="b" t="t" l="l"/>
            <a:pathLst>
              <a:path h="1131664" w="668710">
                <a:moveTo>
                  <a:pt x="0" y="0"/>
                </a:moveTo>
                <a:lnTo>
                  <a:pt x="668710" y="0"/>
                </a:lnTo>
                <a:lnTo>
                  <a:pt x="668710" y="1131664"/>
                </a:lnTo>
                <a:lnTo>
                  <a:pt x="0" y="113166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4" id="24"/>
          <p:cNvSpPr txBox="true"/>
          <p:nvPr/>
        </p:nvSpPr>
        <p:spPr>
          <a:xfrm rot="0">
            <a:off x="16777066" y="1760761"/>
            <a:ext cx="1311430" cy="488823"/>
          </a:xfrm>
          <a:prstGeom prst="rect">
            <a:avLst/>
          </a:prstGeom>
        </p:spPr>
        <p:txBody>
          <a:bodyPr anchor="t" rtlCol="false" tIns="0" lIns="0" bIns="0" rIns="0">
            <a:spAutoFit/>
          </a:bodyPr>
          <a:lstStyle/>
          <a:p>
            <a:pPr algn="ctr">
              <a:lnSpc>
                <a:spcPts val="4031"/>
              </a:lnSpc>
              <a:spcBef>
                <a:spcPct val="0"/>
              </a:spcBef>
            </a:pPr>
            <a:r>
              <a:rPr lang="en-US" sz="2879">
                <a:solidFill>
                  <a:srgbClr val="06340A"/>
                </a:solidFill>
                <a:latin typeface="Bobby Jones Condensed Soft"/>
                <a:ea typeface="Bobby Jones Condensed Soft"/>
                <a:cs typeface="Bobby Jones Condensed Soft"/>
                <a:sym typeface="Bobby Jones Condensed Soft"/>
              </a:rPr>
              <a:t>Student</a:t>
            </a:r>
          </a:p>
        </p:txBody>
      </p:sp>
      <p:sp>
        <p:nvSpPr>
          <p:cNvPr name="TextBox 25" id="25"/>
          <p:cNvSpPr txBox="true"/>
          <p:nvPr/>
        </p:nvSpPr>
        <p:spPr>
          <a:xfrm rot="0">
            <a:off x="16488511" y="4342452"/>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INSTRUCTOR</a:t>
            </a:r>
          </a:p>
        </p:txBody>
      </p:sp>
      <p:sp>
        <p:nvSpPr>
          <p:cNvPr name="TextBox 26" id="26"/>
          <p:cNvSpPr txBox="true"/>
          <p:nvPr/>
        </p:nvSpPr>
        <p:spPr>
          <a:xfrm rot="0">
            <a:off x="16591108" y="6901620"/>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admin staff</a:t>
            </a:r>
          </a:p>
        </p:txBody>
      </p:sp>
      <p:sp>
        <p:nvSpPr>
          <p:cNvPr name="Freeform 27" id="27"/>
          <p:cNvSpPr/>
          <p:nvPr/>
        </p:nvSpPr>
        <p:spPr>
          <a:xfrm flipH="false" flipV="false" rot="0">
            <a:off x="10476270" y="2360887"/>
            <a:ext cx="4828964" cy="7926113"/>
          </a:xfrm>
          <a:custGeom>
            <a:avLst/>
            <a:gdLst/>
            <a:ahLst/>
            <a:cxnLst/>
            <a:rect r="r" b="b" t="t" l="l"/>
            <a:pathLst>
              <a:path h="7926113" w="4828964">
                <a:moveTo>
                  <a:pt x="0" y="0"/>
                </a:moveTo>
                <a:lnTo>
                  <a:pt x="4828965" y="0"/>
                </a:lnTo>
                <a:lnTo>
                  <a:pt x="4828965" y="7926113"/>
                </a:lnTo>
                <a:lnTo>
                  <a:pt x="0" y="7926113"/>
                </a:lnTo>
                <a:lnTo>
                  <a:pt x="0" y="0"/>
                </a:lnTo>
                <a:close/>
              </a:path>
            </a:pathLst>
          </a:custGeom>
          <a:blipFill>
            <a:blip r:embed="rId17"/>
            <a:stretch>
              <a:fillRect l="-164" t="0" r="-164"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955185" y="302934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2541203" y="2034889"/>
            <a:ext cx="13896389" cy="1478894"/>
            <a:chOff x="0" y="0"/>
            <a:chExt cx="3659954" cy="389503"/>
          </a:xfrm>
        </p:grpSpPr>
        <p:sp>
          <p:nvSpPr>
            <p:cNvPr name="Freeform 15" id="15"/>
            <p:cNvSpPr/>
            <p:nvPr/>
          </p:nvSpPr>
          <p:spPr>
            <a:xfrm flipH="false" flipV="false" rot="0">
              <a:off x="0" y="0"/>
              <a:ext cx="3659954" cy="389503"/>
            </a:xfrm>
            <a:custGeom>
              <a:avLst/>
              <a:gdLst/>
              <a:ahLst/>
              <a:cxnLst/>
              <a:rect r="r" b="b" t="t" l="l"/>
              <a:pathLst>
                <a:path h="389503" w="3659954">
                  <a:moveTo>
                    <a:pt x="55712" y="0"/>
                  </a:moveTo>
                  <a:lnTo>
                    <a:pt x="3604242" y="0"/>
                  </a:lnTo>
                  <a:cubicBezTo>
                    <a:pt x="3619018" y="0"/>
                    <a:pt x="3633189" y="5870"/>
                    <a:pt x="3643637" y="16318"/>
                  </a:cubicBezTo>
                  <a:cubicBezTo>
                    <a:pt x="3654084" y="26766"/>
                    <a:pt x="3659954" y="40936"/>
                    <a:pt x="3659954" y="55712"/>
                  </a:cubicBezTo>
                  <a:lnTo>
                    <a:pt x="3659954" y="333791"/>
                  </a:lnTo>
                  <a:cubicBezTo>
                    <a:pt x="3659954" y="348567"/>
                    <a:pt x="3654084" y="362737"/>
                    <a:pt x="3643637" y="373185"/>
                  </a:cubicBezTo>
                  <a:cubicBezTo>
                    <a:pt x="3633189" y="383633"/>
                    <a:pt x="3619018" y="389503"/>
                    <a:pt x="3604242" y="389503"/>
                  </a:cubicBezTo>
                  <a:lnTo>
                    <a:pt x="55712" y="389503"/>
                  </a:lnTo>
                  <a:cubicBezTo>
                    <a:pt x="40936" y="389503"/>
                    <a:pt x="26766" y="383633"/>
                    <a:pt x="16318" y="373185"/>
                  </a:cubicBezTo>
                  <a:cubicBezTo>
                    <a:pt x="5870" y="362737"/>
                    <a:pt x="0" y="348567"/>
                    <a:pt x="0" y="333791"/>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7603"/>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468540" y="3898731"/>
            <a:ext cx="13469984" cy="4483464"/>
            <a:chOff x="0" y="0"/>
            <a:chExt cx="3547650" cy="1180830"/>
          </a:xfrm>
        </p:grpSpPr>
        <p:sp>
          <p:nvSpPr>
            <p:cNvPr name="Freeform 18" id="18"/>
            <p:cNvSpPr/>
            <p:nvPr/>
          </p:nvSpPr>
          <p:spPr>
            <a:xfrm flipH="false" flipV="false" rot="0">
              <a:off x="0" y="0"/>
              <a:ext cx="3547650" cy="1180830"/>
            </a:xfrm>
            <a:custGeom>
              <a:avLst/>
              <a:gdLst/>
              <a:ahLst/>
              <a:cxnLst/>
              <a:rect r="r" b="b" t="t" l="l"/>
              <a:pathLst>
                <a:path h="1180830" w="3547650">
                  <a:moveTo>
                    <a:pt x="36209" y="0"/>
                  </a:moveTo>
                  <a:lnTo>
                    <a:pt x="3511441" y="0"/>
                  </a:lnTo>
                  <a:cubicBezTo>
                    <a:pt x="3531439" y="0"/>
                    <a:pt x="3547650" y="16212"/>
                    <a:pt x="3547650" y="36209"/>
                  </a:cubicBezTo>
                  <a:lnTo>
                    <a:pt x="3547650" y="1144620"/>
                  </a:lnTo>
                  <a:cubicBezTo>
                    <a:pt x="3547650" y="1164618"/>
                    <a:pt x="3531439" y="1180830"/>
                    <a:pt x="3511441" y="1180830"/>
                  </a:cubicBezTo>
                  <a:lnTo>
                    <a:pt x="36209" y="1180830"/>
                  </a:lnTo>
                  <a:cubicBezTo>
                    <a:pt x="16212" y="1180830"/>
                    <a:pt x="0" y="1164618"/>
                    <a:pt x="0" y="1144620"/>
                  </a:cubicBezTo>
                  <a:lnTo>
                    <a:pt x="0" y="36209"/>
                  </a:lnTo>
                  <a:cubicBezTo>
                    <a:pt x="0" y="16212"/>
                    <a:pt x="16212" y="0"/>
                    <a:pt x="36209" y="0"/>
                  </a:cubicBezTo>
                  <a:close/>
                </a:path>
              </a:pathLst>
            </a:custGeom>
            <a:solidFill>
              <a:srgbClr val="FDD41C">
                <a:alpha val="44706"/>
              </a:srgbClr>
            </a:solidFill>
          </p:spPr>
        </p:sp>
        <p:sp>
          <p:nvSpPr>
            <p:cNvPr name="TextBox 19" id="19"/>
            <p:cNvSpPr txBox="true"/>
            <p:nvPr/>
          </p:nvSpPr>
          <p:spPr>
            <a:xfrm>
              <a:off x="0" y="-38100"/>
              <a:ext cx="3547650"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31233" y="2714296"/>
            <a:ext cx="4552659" cy="7463376"/>
          </a:xfrm>
          <a:custGeom>
            <a:avLst/>
            <a:gdLst/>
            <a:ahLst/>
            <a:cxnLst/>
            <a:rect r="r" b="b" t="t" l="l"/>
            <a:pathLst>
              <a:path h="7463376" w="4552659">
                <a:moveTo>
                  <a:pt x="0" y="0"/>
                </a:moveTo>
                <a:lnTo>
                  <a:pt x="4552659" y="0"/>
                </a:lnTo>
                <a:lnTo>
                  <a:pt x="4552659" y="7463375"/>
                </a:lnTo>
                <a:lnTo>
                  <a:pt x="0" y="7463375"/>
                </a:lnTo>
                <a:lnTo>
                  <a:pt x="0" y="0"/>
                </a:lnTo>
                <a:close/>
              </a:path>
            </a:pathLst>
          </a:custGeom>
          <a:blipFill>
            <a:blip r:embed="rId6"/>
            <a:stretch>
              <a:fillRect l="0" t="0" r="0" b="0"/>
            </a:stretch>
          </a:blipFill>
        </p:spPr>
      </p:sp>
      <p:sp>
        <p:nvSpPr>
          <p:cNvPr name="TextBox 24" id="24"/>
          <p:cNvSpPr txBox="true"/>
          <p:nvPr/>
        </p:nvSpPr>
        <p:spPr>
          <a:xfrm rot="0">
            <a:off x="11051050" y="1815814"/>
            <a:ext cx="7083046"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access flow</a:t>
            </a:r>
          </a:p>
        </p:txBody>
      </p:sp>
      <p:sp>
        <p:nvSpPr>
          <p:cNvPr name="TextBox 25" id="25"/>
          <p:cNvSpPr txBox="true"/>
          <p:nvPr/>
        </p:nvSpPr>
        <p:spPr>
          <a:xfrm rot="0">
            <a:off x="11218879" y="4165433"/>
            <a:ext cx="6747388" cy="3033395"/>
          </a:xfrm>
          <a:prstGeom prst="rect">
            <a:avLst/>
          </a:prstGeom>
        </p:spPr>
        <p:txBody>
          <a:bodyPr anchor="t" rtlCol="false" tIns="0" lIns="0" bIns="0" rIns="0">
            <a:spAutoFit/>
          </a:bodyPr>
          <a:lstStyle/>
          <a:p>
            <a:pPr algn="just">
              <a:lnSpc>
                <a:spcPts val="4480"/>
              </a:lnSpc>
              <a:spcBef>
                <a:spcPct val="0"/>
              </a:spcBef>
            </a:pPr>
            <a:r>
              <a:rPr lang="en-US" sz="3200">
                <a:solidFill>
                  <a:srgbClr val="19120C"/>
                </a:solidFill>
                <a:latin typeface="Jella"/>
                <a:ea typeface="Jella"/>
                <a:cs typeface="Jella"/>
                <a:sym typeface="Jella"/>
              </a:rPr>
              <a:t> </a:t>
            </a:r>
            <a:r>
              <a:rPr lang="en-US" sz="3200">
                <a:solidFill>
                  <a:srgbClr val="19120C"/>
                </a:solidFill>
                <a:latin typeface="Jella"/>
                <a:ea typeface="Jella"/>
                <a:cs typeface="Jella"/>
                <a:sym typeface="Jella"/>
              </a:rPr>
              <a:t>T</a:t>
            </a:r>
            <a:r>
              <a:rPr lang="en-US" sz="3200">
                <a:solidFill>
                  <a:srgbClr val="19120C"/>
                </a:solidFill>
                <a:latin typeface="Jella"/>
                <a:ea typeface="Jella"/>
                <a:cs typeface="Jella"/>
                <a:sym typeface="Jella"/>
              </a:rPr>
              <a:t>o access the system, users must enter their username and password. After providing these credentials, they simply click the Login button to continue.</a:t>
            </a:r>
          </a:p>
        </p:txBody>
      </p:sp>
      <p:grpSp>
        <p:nvGrpSpPr>
          <p:cNvPr name="Group 26" id="26"/>
          <p:cNvGrpSpPr/>
          <p:nvPr/>
        </p:nvGrpSpPr>
        <p:grpSpPr>
          <a:xfrm rot="0">
            <a:off x="4896517" y="3685183"/>
            <a:ext cx="6109737" cy="6271906"/>
            <a:chOff x="0" y="0"/>
            <a:chExt cx="1138075" cy="1168282"/>
          </a:xfrm>
        </p:grpSpPr>
        <p:sp>
          <p:nvSpPr>
            <p:cNvPr name="Freeform 27" id="27"/>
            <p:cNvSpPr/>
            <p:nvPr/>
          </p:nvSpPr>
          <p:spPr>
            <a:xfrm flipH="false" flipV="false" rot="0">
              <a:off x="0" y="0"/>
              <a:ext cx="1138075" cy="1168282"/>
            </a:xfrm>
            <a:custGeom>
              <a:avLst/>
              <a:gdLst/>
              <a:ahLst/>
              <a:cxnLst/>
              <a:rect r="r" b="b" t="t" l="l"/>
              <a:pathLst>
                <a:path h="1168282" w="1138075">
                  <a:moveTo>
                    <a:pt x="44350" y="0"/>
                  </a:moveTo>
                  <a:lnTo>
                    <a:pt x="1093725" y="0"/>
                  </a:lnTo>
                  <a:cubicBezTo>
                    <a:pt x="1105487" y="0"/>
                    <a:pt x="1116768" y="4673"/>
                    <a:pt x="1125085" y="12990"/>
                  </a:cubicBezTo>
                  <a:cubicBezTo>
                    <a:pt x="1133402" y="21307"/>
                    <a:pt x="1138075" y="32588"/>
                    <a:pt x="1138075" y="44350"/>
                  </a:cubicBezTo>
                  <a:lnTo>
                    <a:pt x="1138075" y="1123932"/>
                  </a:lnTo>
                  <a:cubicBezTo>
                    <a:pt x="1138075" y="1135695"/>
                    <a:pt x="1133402" y="1146975"/>
                    <a:pt x="1125085" y="1155293"/>
                  </a:cubicBezTo>
                  <a:cubicBezTo>
                    <a:pt x="1116768" y="1163610"/>
                    <a:pt x="1105487" y="1168282"/>
                    <a:pt x="1093725" y="1168282"/>
                  </a:cubicBezTo>
                  <a:lnTo>
                    <a:pt x="44350" y="1168282"/>
                  </a:lnTo>
                  <a:cubicBezTo>
                    <a:pt x="32588" y="1168282"/>
                    <a:pt x="21307" y="1163610"/>
                    <a:pt x="12990" y="1155293"/>
                  </a:cubicBezTo>
                  <a:cubicBezTo>
                    <a:pt x="4673" y="1146975"/>
                    <a:pt x="0" y="1135695"/>
                    <a:pt x="0" y="1123932"/>
                  </a:cubicBezTo>
                  <a:lnTo>
                    <a:pt x="0" y="44350"/>
                  </a:lnTo>
                  <a:cubicBezTo>
                    <a:pt x="0" y="32588"/>
                    <a:pt x="4673" y="21307"/>
                    <a:pt x="12990" y="12990"/>
                  </a:cubicBezTo>
                  <a:cubicBezTo>
                    <a:pt x="21307" y="4673"/>
                    <a:pt x="32588" y="0"/>
                    <a:pt x="44350" y="0"/>
                  </a:cubicBezTo>
                  <a:close/>
                </a:path>
              </a:pathLst>
            </a:custGeom>
            <a:blipFill>
              <a:blip r:embed="rId7"/>
              <a:stretch>
                <a:fillRect l="-516" t="0" r="-516" b="0"/>
              </a:stretch>
            </a:blipFill>
            <a:ln w="19050" cap="rnd">
              <a:solidFill>
                <a:srgbClr val="000000"/>
              </a:solidFill>
              <a:prstDash val="solid"/>
              <a:round/>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724561" y="2011750"/>
            <a:ext cx="13896389" cy="1466349"/>
            <a:chOff x="0" y="0"/>
            <a:chExt cx="3659954" cy="386199"/>
          </a:xfrm>
        </p:grpSpPr>
        <p:sp>
          <p:nvSpPr>
            <p:cNvPr name="Freeform 14" id="14"/>
            <p:cNvSpPr/>
            <p:nvPr/>
          </p:nvSpPr>
          <p:spPr>
            <a:xfrm flipH="false" flipV="false" rot="0">
              <a:off x="0" y="0"/>
              <a:ext cx="3659954" cy="386199"/>
            </a:xfrm>
            <a:custGeom>
              <a:avLst/>
              <a:gdLst/>
              <a:ahLst/>
              <a:cxnLst/>
              <a:rect r="r" b="b" t="t" l="l"/>
              <a:pathLst>
                <a:path h="386199" w="3659954">
                  <a:moveTo>
                    <a:pt x="55712" y="0"/>
                  </a:moveTo>
                  <a:lnTo>
                    <a:pt x="3604242" y="0"/>
                  </a:lnTo>
                  <a:cubicBezTo>
                    <a:pt x="3619018" y="0"/>
                    <a:pt x="3633189" y="5870"/>
                    <a:pt x="3643637" y="16318"/>
                  </a:cubicBezTo>
                  <a:cubicBezTo>
                    <a:pt x="3654084" y="26766"/>
                    <a:pt x="3659954" y="40936"/>
                    <a:pt x="3659954" y="55712"/>
                  </a:cubicBezTo>
                  <a:lnTo>
                    <a:pt x="3659954" y="330487"/>
                  </a:lnTo>
                  <a:cubicBezTo>
                    <a:pt x="3659954" y="345263"/>
                    <a:pt x="3654084" y="359433"/>
                    <a:pt x="3643637" y="369881"/>
                  </a:cubicBezTo>
                  <a:cubicBezTo>
                    <a:pt x="3633189" y="380329"/>
                    <a:pt x="3619018" y="386199"/>
                    <a:pt x="3604242" y="386199"/>
                  </a:cubicBezTo>
                  <a:lnTo>
                    <a:pt x="55712" y="386199"/>
                  </a:lnTo>
                  <a:cubicBezTo>
                    <a:pt x="40936" y="386199"/>
                    <a:pt x="26766" y="380329"/>
                    <a:pt x="16318" y="369881"/>
                  </a:cubicBezTo>
                  <a:cubicBezTo>
                    <a:pt x="5870" y="359433"/>
                    <a:pt x="0" y="345263"/>
                    <a:pt x="0" y="330487"/>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5" id="15"/>
            <p:cNvSpPr txBox="true"/>
            <p:nvPr/>
          </p:nvSpPr>
          <p:spPr>
            <a:xfrm>
              <a:off x="0" y="-38100"/>
              <a:ext cx="3659954" cy="42429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4682983" y="3744566"/>
            <a:ext cx="13826983" cy="4740696"/>
            <a:chOff x="0" y="0"/>
            <a:chExt cx="3641675" cy="1248578"/>
          </a:xfrm>
        </p:grpSpPr>
        <p:sp>
          <p:nvSpPr>
            <p:cNvPr name="Freeform 17" id="17"/>
            <p:cNvSpPr/>
            <p:nvPr/>
          </p:nvSpPr>
          <p:spPr>
            <a:xfrm flipH="false" flipV="false" rot="0">
              <a:off x="0" y="0"/>
              <a:ext cx="3641675" cy="1248578"/>
            </a:xfrm>
            <a:custGeom>
              <a:avLst/>
              <a:gdLst/>
              <a:ahLst/>
              <a:cxnLst/>
              <a:rect r="r" b="b" t="t" l="l"/>
              <a:pathLst>
                <a:path h="1248578" w="3641675">
                  <a:moveTo>
                    <a:pt x="35275" y="0"/>
                  </a:moveTo>
                  <a:lnTo>
                    <a:pt x="3606400" y="0"/>
                  </a:lnTo>
                  <a:cubicBezTo>
                    <a:pt x="3625882" y="0"/>
                    <a:pt x="3641675" y="15793"/>
                    <a:pt x="3641675" y="35275"/>
                  </a:cubicBezTo>
                  <a:lnTo>
                    <a:pt x="3641675" y="1213304"/>
                  </a:lnTo>
                  <a:cubicBezTo>
                    <a:pt x="3641675" y="1222659"/>
                    <a:pt x="3637958" y="1231631"/>
                    <a:pt x="3631343" y="1238247"/>
                  </a:cubicBezTo>
                  <a:cubicBezTo>
                    <a:pt x="3624728" y="1244862"/>
                    <a:pt x="3615755" y="1248578"/>
                    <a:pt x="3606400" y="1248578"/>
                  </a:cubicBezTo>
                  <a:lnTo>
                    <a:pt x="35275" y="1248578"/>
                  </a:lnTo>
                  <a:cubicBezTo>
                    <a:pt x="25919" y="1248578"/>
                    <a:pt x="16947" y="1244862"/>
                    <a:pt x="10332" y="1238247"/>
                  </a:cubicBezTo>
                  <a:cubicBezTo>
                    <a:pt x="3716" y="1231631"/>
                    <a:pt x="0" y="1222659"/>
                    <a:pt x="0" y="1213304"/>
                  </a:cubicBezTo>
                  <a:lnTo>
                    <a:pt x="0" y="35275"/>
                  </a:lnTo>
                  <a:cubicBezTo>
                    <a:pt x="0" y="25919"/>
                    <a:pt x="3716" y="16947"/>
                    <a:pt x="10332" y="10332"/>
                  </a:cubicBezTo>
                  <a:cubicBezTo>
                    <a:pt x="16947" y="3716"/>
                    <a:pt x="25919" y="0"/>
                    <a:pt x="35275" y="0"/>
                  </a:cubicBezTo>
                  <a:close/>
                </a:path>
              </a:pathLst>
            </a:custGeom>
            <a:solidFill>
              <a:srgbClr val="FDD41C">
                <a:alpha val="44706"/>
              </a:srgbClr>
            </a:solidFill>
          </p:spPr>
        </p:sp>
        <p:sp>
          <p:nvSpPr>
            <p:cNvPr name="TextBox 18" id="18"/>
            <p:cNvSpPr txBox="true"/>
            <p:nvPr/>
          </p:nvSpPr>
          <p:spPr>
            <a:xfrm>
              <a:off x="0" y="-38100"/>
              <a:ext cx="3641675" cy="1286678"/>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2265211" y="1764653"/>
            <a:ext cx="7925651"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INSTRUCTOR FOR</a:t>
            </a:r>
            <a:r>
              <a:rPr lang="en-US" sz="9600">
                <a:solidFill>
                  <a:srgbClr val="000000"/>
                </a:solidFill>
                <a:latin typeface="Bobby Jones Condensed Soft"/>
                <a:ea typeface="Bobby Jones Condensed Soft"/>
                <a:cs typeface="Bobby Jones Condensed Soft"/>
                <a:sym typeface="Bobby Jones Condensed Soft"/>
              </a:rPr>
              <a:t>M</a:t>
            </a:r>
          </a:p>
        </p:txBody>
      </p:sp>
      <p:sp>
        <p:nvSpPr>
          <p:cNvPr name="TextBox 22" id="22"/>
          <p:cNvSpPr txBox="true"/>
          <p:nvPr/>
        </p:nvSpPr>
        <p:spPr>
          <a:xfrm rot="0">
            <a:off x="444308" y="4201999"/>
            <a:ext cx="5079179" cy="3384136"/>
          </a:xfrm>
          <a:prstGeom prst="rect">
            <a:avLst/>
          </a:prstGeom>
        </p:spPr>
        <p:txBody>
          <a:bodyPr anchor="t" rtlCol="false" tIns="0" lIns="0" bIns="0" rIns="0">
            <a:spAutoFit/>
          </a:bodyPr>
          <a:lstStyle/>
          <a:p>
            <a:pPr algn="just">
              <a:lnSpc>
                <a:spcPts val="3642"/>
              </a:lnSpc>
              <a:spcBef>
                <a:spcPct val="0"/>
              </a:spcBef>
            </a:pPr>
            <a:r>
              <a:rPr lang="en-US" sz="2601">
                <a:solidFill>
                  <a:srgbClr val="19120C"/>
                </a:solidFill>
                <a:latin typeface="Jella"/>
                <a:ea typeface="Jella"/>
                <a:cs typeface="Jella"/>
                <a:sym typeface="Jella"/>
              </a:rPr>
              <a:t>If th</a:t>
            </a:r>
            <a:r>
              <a:rPr lang="en-US" sz="2601">
                <a:solidFill>
                  <a:srgbClr val="19120C"/>
                </a:solidFill>
                <a:latin typeface="Jella"/>
                <a:ea typeface="Jella"/>
                <a:cs typeface="Jella"/>
                <a:sym typeface="Jella"/>
              </a:rPr>
              <a:t>e user is an instructor, the system will redirect them to the Instructor Form, which provides tools for managing teaching responsibilities. </a:t>
            </a:r>
          </a:p>
          <a:p>
            <a:pPr algn="just">
              <a:lnSpc>
                <a:spcPts val="3642"/>
              </a:lnSpc>
              <a:spcBef>
                <a:spcPct val="0"/>
              </a:spcBef>
            </a:pPr>
          </a:p>
          <a:p>
            <a:pPr algn="just">
              <a:lnSpc>
                <a:spcPts val="3496"/>
              </a:lnSpc>
              <a:spcBef>
                <a:spcPct val="0"/>
              </a:spcBef>
            </a:pPr>
          </a:p>
        </p:txBody>
      </p:sp>
      <p:grpSp>
        <p:nvGrpSpPr>
          <p:cNvPr name="Group 23" id="23"/>
          <p:cNvGrpSpPr/>
          <p:nvPr/>
        </p:nvGrpSpPr>
        <p:grpSpPr>
          <a:xfrm rot="0">
            <a:off x="6043542" y="3773765"/>
            <a:ext cx="10886941" cy="4348264"/>
            <a:chOff x="0" y="0"/>
            <a:chExt cx="4271029" cy="1705857"/>
          </a:xfrm>
        </p:grpSpPr>
        <p:sp>
          <p:nvSpPr>
            <p:cNvPr name="Freeform 24" id="24"/>
            <p:cNvSpPr/>
            <p:nvPr/>
          </p:nvSpPr>
          <p:spPr>
            <a:xfrm flipH="false" flipV="false" rot="0">
              <a:off x="0" y="0"/>
              <a:ext cx="4271029" cy="1705857"/>
            </a:xfrm>
            <a:custGeom>
              <a:avLst/>
              <a:gdLst/>
              <a:ahLst/>
              <a:cxnLst/>
              <a:rect r="r" b="b" t="t" l="l"/>
              <a:pathLst>
                <a:path h="1705857" w="4271029">
                  <a:moveTo>
                    <a:pt x="24889" y="0"/>
                  </a:moveTo>
                  <a:lnTo>
                    <a:pt x="4246140" y="0"/>
                  </a:lnTo>
                  <a:cubicBezTo>
                    <a:pt x="4259886" y="0"/>
                    <a:pt x="4271029" y="11143"/>
                    <a:pt x="4271029" y="24889"/>
                  </a:cubicBezTo>
                  <a:lnTo>
                    <a:pt x="4271029" y="1680968"/>
                  </a:lnTo>
                  <a:cubicBezTo>
                    <a:pt x="4271029" y="1694713"/>
                    <a:pt x="4259886" y="1705857"/>
                    <a:pt x="4246140" y="1705857"/>
                  </a:cubicBezTo>
                  <a:lnTo>
                    <a:pt x="24889" y="1705857"/>
                  </a:lnTo>
                  <a:cubicBezTo>
                    <a:pt x="11143" y="1705857"/>
                    <a:pt x="0" y="1694713"/>
                    <a:pt x="0" y="1680968"/>
                  </a:cubicBezTo>
                  <a:lnTo>
                    <a:pt x="0" y="24889"/>
                  </a:lnTo>
                  <a:cubicBezTo>
                    <a:pt x="0" y="11143"/>
                    <a:pt x="11143" y="0"/>
                    <a:pt x="24889" y="0"/>
                  </a:cubicBezTo>
                  <a:close/>
                </a:path>
              </a:pathLst>
            </a:custGeom>
            <a:blipFill>
              <a:blip r:embed="rId6"/>
              <a:stretch>
                <a:fillRect l="0" t="-121" r="0" b="-121"/>
              </a:stretch>
            </a:blipFill>
            <a:ln w="28575" cap="rnd">
              <a:solidFill>
                <a:srgbClr val="000000"/>
              </a:solidFill>
              <a:prstDash val="solid"/>
              <a:round/>
            </a:ln>
          </p:spPr>
        </p:sp>
      </p:grpSp>
      <p:sp>
        <p:nvSpPr>
          <p:cNvPr name="Freeform 25" id="25"/>
          <p:cNvSpPr/>
          <p:nvPr/>
        </p:nvSpPr>
        <p:spPr>
          <a:xfrm flipH="false" flipV="false" rot="0">
            <a:off x="13878731" y="4241433"/>
            <a:ext cx="4288116" cy="5894318"/>
          </a:xfrm>
          <a:custGeom>
            <a:avLst/>
            <a:gdLst/>
            <a:ahLst/>
            <a:cxnLst/>
            <a:rect r="r" b="b" t="t" l="l"/>
            <a:pathLst>
              <a:path h="5894318" w="4288116">
                <a:moveTo>
                  <a:pt x="0" y="0"/>
                </a:moveTo>
                <a:lnTo>
                  <a:pt x="4288116" y="0"/>
                </a:lnTo>
                <a:lnTo>
                  <a:pt x="4288116" y="5894318"/>
                </a:lnTo>
                <a:lnTo>
                  <a:pt x="0" y="5894318"/>
                </a:lnTo>
                <a:lnTo>
                  <a:pt x="0" y="0"/>
                </a:lnTo>
                <a:close/>
              </a:path>
            </a:pathLst>
          </a:custGeom>
          <a:blipFill>
            <a:blip r:embed="rId7"/>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4713031" cy="1433114"/>
            <a:chOff x="0" y="0"/>
            <a:chExt cx="3875037" cy="377446"/>
          </a:xfrm>
        </p:grpSpPr>
        <p:sp>
          <p:nvSpPr>
            <p:cNvPr name="Freeform 15" id="15"/>
            <p:cNvSpPr/>
            <p:nvPr/>
          </p:nvSpPr>
          <p:spPr>
            <a:xfrm flipH="false" flipV="false" rot="0">
              <a:off x="0" y="0"/>
              <a:ext cx="3875037" cy="377446"/>
            </a:xfrm>
            <a:custGeom>
              <a:avLst/>
              <a:gdLst/>
              <a:ahLst/>
              <a:cxnLst/>
              <a:rect r="r" b="b" t="t" l="l"/>
              <a:pathLst>
                <a:path h="377446" w="3875037">
                  <a:moveTo>
                    <a:pt x="52619" y="0"/>
                  </a:moveTo>
                  <a:lnTo>
                    <a:pt x="3822417" y="0"/>
                  </a:lnTo>
                  <a:cubicBezTo>
                    <a:pt x="3851478" y="0"/>
                    <a:pt x="3875037" y="23559"/>
                    <a:pt x="3875037" y="52619"/>
                  </a:cubicBezTo>
                  <a:lnTo>
                    <a:pt x="3875037" y="324826"/>
                  </a:lnTo>
                  <a:cubicBezTo>
                    <a:pt x="3875037" y="338782"/>
                    <a:pt x="3869493" y="352166"/>
                    <a:pt x="3859625" y="362034"/>
                  </a:cubicBezTo>
                  <a:cubicBezTo>
                    <a:pt x="3849757" y="371902"/>
                    <a:pt x="3836373" y="377446"/>
                    <a:pt x="3822417" y="377446"/>
                  </a:cubicBezTo>
                  <a:lnTo>
                    <a:pt x="52619" y="377446"/>
                  </a:lnTo>
                  <a:cubicBezTo>
                    <a:pt x="38664" y="377446"/>
                    <a:pt x="25280" y="371902"/>
                    <a:pt x="15412" y="362034"/>
                  </a:cubicBezTo>
                  <a:cubicBezTo>
                    <a:pt x="5544" y="352166"/>
                    <a:pt x="0" y="338782"/>
                    <a:pt x="0" y="324826"/>
                  </a:cubicBezTo>
                  <a:lnTo>
                    <a:pt x="0" y="52619"/>
                  </a:lnTo>
                  <a:cubicBezTo>
                    <a:pt x="0" y="38664"/>
                    <a:pt x="5544" y="25280"/>
                    <a:pt x="15412" y="15412"/>
                  </a:cubicBezTo>
                  <a:cubicBezTo>
                    <a:pt x="25280" y="5544"/>
                    <a:pt x="38664" y="0"/>
                    <a:pt x="52619" y="0"/>
                  </a:cubicBezTo>
                  <a:close/>
                </a:path>
              </a:pathLst>
            </a:custGeom>
            <a:solidFill>
              <a:srgbClr val="FDD41C">
                <a:alpha val="77647"/>
              </a:srgbClr>
            </a:solidFill>
          </p:spPr>
        </p:sp>
        <p:sp>
          <p:nvSpPr>
            <p:cNvPr name="TextBox 16" id="16"/>
            <p:cNvSpPr txBox="true"/>
            <p:nvPr/>
          </p:nvSpPr>
          <p:spPr>
            <a:xfrm>
              <a:off x="0" y="-38100"/>
              <a:ext cx="3875037" cy="415546"/>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3168064" y="4056658"/>
            <a:ext cx="13269528" cy="4483464"/>
            <a:chOff x="0" y="0"/>
            <a:chExt cx="3494855" cy="1180830"/>
          </a:xfrm>
        </p:grpSpPr>
        <p:sp>
          <p:nvSpPr>
            <p:cNvPr name="Freeform 18" id="18"/>
            <p:cNvSpPr/>
            <p:nvPr/>
          </p:nvSpPr>
          <p:spPr>
            <a:xfrm flipH="false" flipV="false" rot="0">
              <a:off x="0" y="0"/>
              <a:ext cx="3494855" cy="1180830"/>
            </a:xfrm>
            <a:custGeom>
              <a:avLst/>
              <a:gdLst/>
              <a:ahLst/>
              <a:cxnLst/>
              <a:rect r="r" b="b" t="t" l="l"/>
              <a:pathLst>
                <a:path h="1180830" w="3494855">
                  <a:moveTo>
                    <a:pt x="36756" y="0"/>
                  </a:moveTo>
                  <a:lnTo>
                    <a:pt x="3458099" y="0"/>
                  </a:lnTo>
                  <a:cubicBezTo>
                    <a:pt x="3478399" y="0"/>
                    <a:pt x="3494855" y="16456"/>
                    <a:pt x="3494855" y="36756"/>
                  </a:cubicBezTo>
                  <a:lnTo>
                    <a:pt x="3494855" y="1144073"/>
                  </a:lnTo>
                  <a:cubicBezTo>
                    <a:pt x="3494855" y="1153822"/>
                    <a:pt x="3490983" y="1163171"/>
                    <a:pt x="3484090" y="1170064"/>
                  </a:cubicBezTo>
                  <a:cubicBezTo>
                    <a:pt x="3477196" y="1176957"/>
                    <a:pt x="3467847" y="1180830"/>
                    <a:pt x="3458099" y="1180830"/>
                  </a:cubicBezTo>
                  <a:lnTo>
                    <a:pt x="36756" y="1180830"/>
                  </a:lnTo>
                  <a:cubicBezTo>
                    <a:pt x="16456" y="1180830"/>
                    <a:pt x="0" y="1164373"/>
                    <a:pt x="0" y="1144073"/>
                  </a:cubicBezTo>
                  <a:lnTo>
                    <a:pt x="0" y="36756"/>
                  </a:lnTo>
                  <a:cubicBezTo>
                    <a:pt x="0" y="16456"/>
                    <a:pt x="16456" y="0"/>
                    <a:pt x="36756" y="0"/>
                  </a:cubicBezTo>
                  <a:close/>
                </a:path>
              </a:pathLst>
            </a:custGeom>
            <a:solidFill>
              <a:srgbClr val="FDD41C">
                <a:alpha val="44706"/>
              </a:srgbClr>
            </a:solidFill>
          </p:spPr>
        </p:sp>
        <p:sp>
          <p:nvSpPr>
            <p:cNvPr name="TextBox 19" id="19"/>
            <p:cNvSpPr txBox="true"/>
            <p:nvPr/>
          </p:nvSpPr>
          <p:spPr>
            <a:xfrm>
              <a:off x="0" y="-38100"/>
              <a:ext cx="3494855"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12286229" y="1696519"/>
            <a:ext cx="6261823"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roster</a:t>
            </a:r>
          </a:p>
        </p:txBody>
      </p:sp>
      <p:sp>
        <p:nvSpPr>
          <p:cNvPr name="TextBox 24" id="24"/>
          <p:cNvSpPr txBox="true"/>
          <p:nvPr/>
        </p:nvSpPr>
        <p:spPr>
          <a:xfrm rot="0">
            <a:off x="10587503" y="4567939"/>
            <a:ext cx="5771360" cy="2568431"/>
          </a:xfrm>
          <a:prstGeom prst="rect">
            <a:avLst/>
          </a:prstGeom>
        </p:spPr>
        <p:txBody>
          <a:bodyPr anchor="t" rtlCol="false" tIns="0" lIns="0" bIns="0" rIns="0">
            <a:spAutoFit/>
          </a:bodyPr>
          <a:lstStyle/>
          <a:p>
            <a:pPr algn="just">
              <a:lnSpc>
                <a:spcPts val="3174"/>
              </a:lnSpc>
              <a:spcBef>
                <a:spcPct val="0"/>
              </a:spcBef>
            </a:pPr>
            <a:r>
              <a:rPr lang="en-US" sz="2267">
                <a:solidFill>
                  <a:srgbClr val="19120C"/>
                </a:solidFill>
                <a:latin typeface="Jella"/>
                <a:ea typeface="Jella"/>
                <a:cs typeface="Jella"/>
                <a:sym typeface="Jella"/>
              </a:rPr>
              <a:t>Here, instructors can view assigned courses, and monitor class schedules. This role-based access ensures that instructors have the resources they need to efficiently support student learning.</a:t>
            </a:r>
          </a:p>
        </p:txBody>
      </p:sp>
      <p:sp>
        <p:nvSpPr>
          <p:cNvPr name="Freeform 25" id="25"/>
          <p:cNvSpPr/>
          <p:nvPr/>
        </p:nvSpPr>
        <p:spPr>
          <a:xfrm flipH="false" flipV="false" rot="0">
            <a:off x="4069388" y="4422557"/>
            <a:ext cx="6323918" cy="3751667"/>
          </a:xfrm>
          <a:custGeom>
            <a:avLst/>
            <a:gdLst/>
            <a:ahLst/>
            <a:cxnLst/>
            <a:rect r="r" b="b" t="t" l="l"/>
            <a:pathLst>
              <a:path h="3751667" w="6323918">
                <a:moveTo>
                  <a:pt x="0" y="0"/>
                </a:moveTo>
                <a:lnTo>
                  <a:pt x="6323917" y="0"/>
                </a:lnTo>
                <a:lnTo>
                  <a:pt x="6323917" y="3751667"/>
                </a:lnTo>
                <a:lnTo>
                  <a:pt x="0" y="3751667"/>
                </a:lnTo>
                <a:lnTo>
                  <a:pt x="0" y="0"/>
                </a:lnTo>
                <a:close/>
              </a:path>
            </a:pathLst>
          </a:custGeom>
          <a:blipFill>
            <a:blip r:embed="rId6"/>
            <a:stretch>
              <a:fillRect l="0" t="0" r="0" b="0"/>
            </a:stretch>
          </a:blipFill>
        </p:spPr>
      </p:sp>
      <p:sp>
        <p:nvSpPr>
          <p:cNvPr name="Freeform 26" id="26"/>
          <p:cNvSpPr/>
          <p:nvPr/>
        </p:nvSpPr>
        <p:spPr>
          <a:xfrm flipH="false" flipV="false" rot="867287">
            <a:off x="-1637194" y="1909107"/>
            <a:ext cx="6151086" cy="8242661"/>
          </a:xfrm>
          <a:custGeom>
            <a:avLst/>
            <a:gdLst/>
            <a:ahLst/>
            <a:cxnLst/>
            <a:rect r="r" b="b" t="t" l="l"/>
            <a:pathLst>
              <a:path h="8242661" w="6151086">
                <a:moveTo>
                  <a:pt x="0" y="0"/>
                </a:moveTo>
                <a:lnTo>
                  <a:pt x="6151086" y="0"/>
                </a:lnTo>
                <a:lnTo>
                  <a:pt x="6151086" y="8242661"/>
                </a:lnTo>
                <a:lnTo>
                  <a:pt x="0" y="8242661"/>
                </a:lnTo>
                <a:lnTo>
                  <a:pt x="0" y="0"/>
                </a:lnTo>
                <a:close/>
              </a:path>
            </a:pathLst>
          </a:custGeom>
          <a:blipFill>
            <a:blip r:embed="rId7"/>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7803500" y="1540142"/>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1511479" y="209069"/>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6776893" y="3292498"/>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8039798" y="7364112"/>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974226"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0756396" y="2360887"/>
            <a:ext cx="4828964" cy="7926113"/>
          </a:xfrm>
          <a:custGeom>
            <a:avLst/>
            <a:gdLst/>
            <a:ahLst/>
            <a:cxnLst/>
            <a:rect r="r" b="b" t="t" l="l"/>
            <a:pathLst>
              <a:path h="7926113" w="4828964">
                <a:moveTo>
                  <a:pt x="0" y="0"/>
                </a:moveTo>
                <a:lnTo>
                  <a:pt x="4828964" y="0"/>
                </a:lnTo>
                <a:lnTo>
                  <a:pt x="4828964" y="7926113"/>
                </a:lnTo>
                <a:lnTo>
                  <a:pt x="0" y="7926113"/>
                </a:lnTo>
                <a:lnTo>
                  <a:pt x="0" y="0"/>
                </a:lnTo>
                <a:close/>
              </a:path>
            </a:pathLst>
          </a:custGeom>
          <a:blipFill>
            <a:blip r:embed="rId6"/>
            <a:stretch>
              <a:fillRect l="-164" t="0" r="-164" b="0"/>
            </a:stretch>
          </a:blipFill>
        </p:spPr>
      </p:sp>
      <p:sp>
        <p:nvSpPr>
          <p:cNvPr name="Freeform 14" id="14"/>
          <p:cNvSpPr/>
          <p:nvPr/>
        </p:nvSpPr>
        <p:spPr>
          <a:xfrm flipH="false" flipV="false" rot="-1329709">
            <a:off x="1398777" y="9779528"/>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1353432">
            <a:off x="-414803" y="348243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549199" y="2238496"/>
            <a:ext cx="8955645" cy="7278014"/>
          </a:xfrm>
          <a:prstGeom prst="rect">
            <a:avLst/>
          </a:prstGeom>
        </p:spPr>
        <p:txBody>
          <a:bodyPr anchor="t" rtlCol="false" tIns="0" lIns="0" bIns="0" rIns="0">
            <a:spAutoFit/>
          </a:bodyPr>
          <a:lstStyle/>
          <a:p>
            <a:pPr algn="just">
              <a:lnSpc>
                <a:spcPts val="19240"/>
              </a:lnSpc>
            </a:pPr>
            <a:r>
              <a:rPr lang="en-US" sz="13743">
                <a:solidFill>
                  <a:srgbClr val="06340A"/>
                </a:solidFill>
                <a:latin typeface="Bobby Jones Condensed Soft"/>
                <a:ea typeface="Bobby Jones Condensed Soft"/>
                <a:cs typeface="Bobby Jones Condensed Soft"/>
                <a:sym typeface="Bobby Jones Condensed Soft"/>
              </a:rPr>
              <a:t>guide for </a:t>
            </a:r>
          </a:p>
          <a:p>
            <a:pPr algn="just">
              <a:lnSpc>
                <a:spcPts val="19240"/>
              </a:lnSpc>
            </a:pPr>
            <a:r>
              <a:rPr lang="en-US" sz="13743">
                <a:solidFill>
                  <a:srgbClr val="06340A"/>
                </a:solidFill>
                <a:latin typeface="Bobby Jones Condensed Soft"/>
                <a:ea typeface="Bobby Jones Condensed Soft"/>
                <a:cs typeface="Bobby Jones Condensed Soft"/>
                <a:sym typeface="Bobby Jones Condensed Soft"/>
              </a:rPr>
              <a:t>administrative staffs</a:t>
            </a:r>
          </a:p>
        </p:txBody>
      </p:sp>
      <p:sp>
        <p:nvSpPr>
          <p:cNvPr name="Freeform 17" id="17"/>
          <p:cNvSpPr/>
          <p:nvPr/>
        </p:nvSpPr>
        <p:spPr>
          <a:xfrm flipH="false" flipV="false" rot="0">
            <a:off x="4861232" y="964003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329709">
            <a:off x="17805593" y="6560081"/>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a:hlinkClick r:id="rId9" action="ppaction://hlinksldjump"/>
          </p:cNvPr>
          <p:cNvSpPr/>
          <p:nvPr/>
        </p:nvSpPr>
        <p:spPr>
          <a:xfrm flipH="false" flipV="false" rot="5400000">
            <a:off x="16059901" y="1348340"/>
            <a:ext cx="2398799" cy="2683970"/>
          </a:xfrm>
          <a:custGeom>
            <a:avLst/>
            <a:gdLst/>
            <a:ahLst/>
            <a:cxnLst/>
            <a:rect r="r" b="b" t="t" l="l"/>
            <a:pathLst>
              <a:path h="2683970" w="2398799">
                <a:moveTo>
                  <a:pt x="0" y="0"/>
                </a:moveTo>
                <a:lnTo>
                  <a:pt x="2398798" y="0"/>
                </a:lnTo>
                <a:lnTo>
                  <a:pt x="2398798" y="2683970"/>
                </a:lnTo>
                <a:lnTo>
                  <a:pt x="0" y="26839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a:hlinkClick r:id="rId10" action="ppaction://hlinksldjump"/>
          </p:cNvPr>
          <p:cNvSpPr/>
          <p:nvPr/>
        </p:nvSpPr>
        <p:spPr>
          <a:xfrm flipH="false" flipV="false" rot="5400000">
            <a:off x="16059901" y="3902904"/>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a:hlinkClick r:id="rId11" action="ppaction://hlinksldjump"/>
          </p:cNvPr>
          <p:cNvSpPr/>
          <p:nvPr/>
        </p:nvSpPr>
        <p:spPr>
          <a:xfrm flipH="false" flipV="false" rot="5400000">
            <a:off x="16161419" y="6454103"/>
            <a:ext cx="2398799" cy="2683970"/>
          </a:xfrm>
          <a:custGeom>
            <a:avLst/>
            <a:gdLst/>
            <a:ahLst/>
            <a:cxnLst/>
            <a:rect r="r" b="b" t="t" l="l"/>
            <a:pathLst>
              <a:path h="2683970" w="2398799">
                <a:moveTo>
                  <a:pt x="0" y="0"/>
                </a:moveTo>
                <a:lnTo>
                  <a:pt x="2398798" y="0"/>
                </a:lnTo>
                <a:lnTo>
                  <a:pt x="2398798" y="2683970"/>
                </a:lnTo>
                <a:lnTo>
                  <a:pt x="0" y="26839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a:hlinkClick r:id="rId11" action="ppaction://hlinksldjump"/>
          </p:cNvPr>
          <p:cNvSpPr/>
          <p:nvPr/>
        </p:nvSpPr>
        <p:spPr>
          <a:xfrm flipH="false" flipV="false" rot="0">
            <a:off x="17326648" y="7507198"/>
            <a:ext cx="679114" cy="1098567"/>
          </a:xfrm>
          <a:custGeom>
            <a:avLst/>
            <a:gdLst/>
            <a:ahLst/>
            <a:cxnLst/>
            <a:rect r="r" b="b" t="t" l="l"/>
            <a:pathLst>
              <a:path h="1098567" w="679114">
                <a:moveTo>
                  <a:pt x="0" y="0"/>
                </a:moveTo>
                <a:lnTo>
                  <a:pt x="679114" y="0"/>
                </a:lnTo>
                <a:lnTo>
                  <a:pt x="679114" y="1098566"/>
                </a:lnTo>
                <a:lnTo>
                  <a:pt x="0" y="10985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3" id="23">
            <a:hlinkClick r:id="rId10" action="ppaction://hlinksldjump"/>
          </p:cNvPr>
          <p:cNvSpPr/>
          <p:nvPr/>
        </p:nvSpPr>
        <p:spPr>
          <a:xfrm flipH="false" flipV="false" rot="0">
            <a:off x="16948061" y="4800337"/>
            <a:ext cx="1241656" cy="1280058"/>
          </a:xfrm>
          <a:custGeom>
            <a:avLst/>
            <a:gdLst/>
            <a:ahLst/>
            <a:cxnLst/>
            <a:rect r="r" b="b" t="t" l="l"/>
            <a:pathLst>
              <a:path h="1280058" w="1241656">
                <a:moveTo>
                  <a:pt x="0" y="0"/>
                </a:moveTo>
                <a:lnTo>
                  <a:pt x="1241656" y="0"/>
                </a:lnTo>
                <a:lnTo>
                  <a:pt x="1241656" y="1280058"/>
                </a:lnTo>
                <a:lnTo>
                  <a:pt x="0" y="12800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4" id="24">
            <a:hlinkClick r:id="rId9" action="ppaction://hlinksldjump"/>
          </p:cNvPr>
          <p:cNvSpPr/>
          <p:nvPr/>
        </p:nvSpPr>
        <p:spPr>
          <a:xfrm flipH="false" flipV="false" rot="0">
            <a:off x="17131937" y="2389920"/>
            <a:ext cx="668710" cy="1131664"/>
          </a:xfrm>
          <a:custGeom>
            <a:avLst/>
            <a:gdLst/>
            <a:ahLst/>
            <a:cxnLst/>
            <a:rect r="r" b="b" t="t" l="l"/>
            <a:pathLst>
              <a:path h="1131664" w="668710">
                <a:moveTo>
                  <a:pt x="0" y="0"/>
                </a:moveTo>
                <a:lnTo>
                  <a:pt x="668710" y="0"/>
                </a:lnTo>
                <a:lnTo>
                  <a:pt x="668710" y="1131663"/>
                </a:lnTo>
                <a:lnTo>
                  <a:pt x="0" y="113166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5" id="25"/>
          <p:cNvSpPr txBox="true"/>
          <p:nvPr/>
        </p:nvSpPr>
        <p:spPr>
          <a:xfrm rot="0">
            <a:off x="16810577" y="1760629"/>
            <a:ext cx="1311430" cy="488823"/>
          </a:xfrm>
          <a:prstGeom prst="rect">
            <a:avLst/>
          </a:prstGeom>
        </p:spPr>
        <p:txBody>
          <a:bodyPr anchor="t" rtlCol="false" tIns="0" lIns="0" bIns="0" rIns="0">
            <a:spAutoFit/>
          </a:bodyPr>
          <a:lstStyle/>
          <a:p>
            <a:pPr algn="ctr">
              <a:lnSpc>
                <a:spcPts val="4031"/>
              </a:lnSpc>
              <a:spcBef>
                <a:spcPct val="0"/>
              </a:spcBef>
            </a:pPr>
            <a:r>
              <a:rPr lang="en-US" sz="2879">
                <a:solidFill>
                  <a:srgbClr val="06340A"/>
                </a:solidFill>
                <a:latin typeface="Bobby Jones Condensed Soft"/>
                <a:ea typeface="Bobby Jones Condensed Soft"/>
                <a:cs typeface="Bobby Jones Condensed Soft"/>
                <a:sym typeface="Bobby Jones Condensed Soft"/>
              </a:rPr>
              <a:t>Student</a:t>
            </a:r>
          </a:p>
        </p:txBody>
      </p:sp>
      <p:sp>
        <p:nvSpPr>
          <p:cNvPr name="TextBox 26" id="26"/>
          <p:cNvSpPr txBox="true"/>
          <p:nvPr/>
        </p:nvSpPr>
        <p:spPr>
          <a:xfrm rot="0">
            <a:off x="16522022" y="4342320"/>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INSTRUCTOR</a:t>
            </a:r>
          </a:p>
        </p:txBody>
      </p:sp>
      <p:sp>
        <p:nvSpPr>
          <p:cNvPr name="TextBox 27" id="27"/>
          <p:cNvSpPr txBox="true"/>
          <p:nvPr/>
        </p:nvSpPr>
        <p:spPr>
          <a:xfrm rot="0">
            <a:off x="16624619" y="6901489"/>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admin staff</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955185" y="302934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2541203" y="2034889"/>
            <a:ext cx="13896389" cy="1478894"/>
            <a:chOff x="0" y="0"/>
            <a:chExt cx="3659954" cy="389503"/>
          </a:xfrm>
        </p:grpSpPr>
        <p:sp>
          <p:nvSpPr>
            <p:cNvPr name="Freeform 15" id="15"/>
            <p:cNvSpPr/>
            <p:nvPr/>
          </p:nvSpPr>
          <p:spPr>
            <a:xfrm flipH="false" flipV="false" rot="0">
              <a:off x="0" y="0"/>
              <a:ext cx="3659954" cy="389503"/>
            </a:xfrm>
            <a:custGeom>
              <a:avLst/>
              <a:gdLst/>
              <a:ahLst/>
              <a:cxnLst/>
              <a:rect r="r" b="b" t="t" l="l"/>
              <a:pathLst>
                <a:path h="389503" w="3659954">
                  <a:moveTo>
                    <a:pt x="55712" y="0"/>
                  </a:moveTo>
                  <a:lnTo>
                    <a:pt x="3604242" y="0"/>
                  </a:lnTo>
                  <a:cubicBezTo>
                    <a:pt x="3619018" y="0"/>
                    <a:pt x="3633189" y="5870"/>
                    <a:pt x="3643637" y="16318"/>
                  </a:cubicBezTo>
                  <a:cubicBezTo>
                    <a:pt x="3654084" y="26766"/>
                    <a:pt x="3659954" y="40936"/>
                    <a:pt x="3659954" y="55712"/>
                  </a:cubicBezTo>
                  <a:lnTo>
                    <a:pt x="3659954" y="333791"/>
                  </a:lnTo>
                  <a:cubicBezTo>
                    <a:pt x="3659954" y="348567"/>
                    <a:pt x="3654084" y="362737"/>
                    <a:pt x="3643637" y="373185"/>
                  </a:cubicBezTo>
                  <a:cubicBezTo>
                    <a:pt x="3633189" y="383633"/>
                    <a:pt x="3619018" y="389503"/>
                    <a:pt x="3604242" y="389503"/>
                  </a:cubicBezTo>
                  <a:lnTo>
                    <a:pt x="55712" y="389503"/>
                  </a:lnTo>
                  <a:cubicBezTo>
                    <a:pt x="40936" y="389503"/>
                    <a:pt x="26766" y="383633"/>
                    <a:pt x="16318" y="373185"/>
                  </a:cubicBezTo>
                  <a:cubicBezTo>
                    <a:pt x="5870" y="362737"/>
                    <a:pt x="0" y="348567"/>
                    <a:pt x="0" y="333791"/>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7603"/>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468540" y="3898731"/>
            <a:ext cx="13469984" cy="4483464"/>
            <a:chOff x="0" y="0"/>
            <a:chExt cx="3547650" cy="1180830"/>
          </a:xfrm>
        </p:grpSpPr>
        <p:sp>
          <p:nvSpPr>
            <p:cNvPr name="Freeform 18" id="18"/>
            <p:cNvSpPr/>
            <p:nvPr/>
          </p:nvSpPr>
          <p:spPr>
            <a:xfrm flipH="false" flipV="false" rot="0">
              <a:off x="0" y="0"/>
              <a:ext cx="3547650" cy="1180830"/>
            </a:xfrm>
            <a:custGeom>
              <a:avLst/>
              <a:gdLst/>
              <a:ahLst/>
              <a:cxnLst/>
              <a:rect r="r" b="b" t="t" l="l"/>
              <a:pathLst>
                <a:path h="1180830" w="3547650">
                  <a:moveTo>
                    <a:pt x="36209" y="0"/>
                  </a:moveTo>
                  <a:lnTo>
                    <a:pt x="3511441" y="0"/>
                  </a:lnTo>
                  <a:cubicBezTo>
                    <a:pt x="3531439" y="0"/>
                    <a:pt x="3547650" y="16212"/>
                    <a:pt x="3547650" y="36209"/>
                  </a:cubicBezTo>
                  <a:lnTo>
                    <a:pt x="3547650" y="1144620"/>
                  </a:lnTo>
                  <a:cubicBezTo>
                    <a:pt x="3547650" y="1164618"/>
                    <a:pt x="3531439" y="1180830"/>
                    <a:pt x="3511441" y="1180830"/>
                  </a:cubicBezTo>
                  <a:lnTo>
                    <a:pt x="36209" y="1180830"/>
                  </a:lnTo>
                  <a:cubicBezTo>
                    <a:pt x="16212" y="1180830"/>
                    <a:pt x="0" y="1164618"/>
                    <a:pt x="0" y="1144620"/>
                  </a:cubicBezTo>
                  <a:lnTo>
                    <a:pt x="0" y="36209"/>
                  </a:lnTo>
                  <a:cubicBezTo>
                    <a:pt x="0" y="16212"/>
                    <a:pt x="16212" y="0"/>
                    <a:pt x="36209" y="0"/>
                  </a:cubicBezTo>
                  <a:close/>
                </a:path>
              </a:pathLst>
            </a:custGeom>
            <a:solidFill>
              <a:srgbClr val="FDD41C">
                <a:alpha val="44706"/>
              </a:srgbClr>
            </a:solidFill>
          </p:spPr>
        </p:sp>
        <p:sp>
          <p:nvSpPr>
            <p:cNvPr name="TextBox 19" id="19"/>
            <p:cNvSpPr txBox="true"/>
            <p:nvPr/>
          </p:nvSpPr>
          <p:spPr>
            <a:xfrm>
              <a:off x="0" y="-38100"/>
              <a:ext cx="3547650"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31233" y="2714296"/>
            <a:ext cx="4552659" cy="7463376"/>
          </a:xfrm>
          <a:custGeom>
            <a:avLst/>
            <a:gdLst/>
            <a:ahLst/>
            <a:cxnLst/>
            <a:rect r="r" b="b" t="t" l="l"/>
            <a:pathLst>
              <a:path h="7463376" w="4552659">
                <a:moveTo>
                  <a:pt x="0" y="0"/>
                </a:moveTo>
                <a:lnTo>
                  <a:pt x="4552659" y="0"/>
                </a:lnTo>
                <a:lnTo>
                  <a:pt x="4552659" y="7463375"/>
                </a:lnTo>
                <a:lnTo>
                  <a:pt x="0" y="7463375"/>
                </a:lnTo>
                <a:lnTo>
                  <a:pt x="0" y="0"/>
                </a:lnTo>
                <a:close/>
              </a:path>
            </a:pathLst>
          </a:custGeom>
          <a:blipFill>
            <a:blip r:embed="rId6"/>
            <a:stretch>
              <a:fillRect l="0" t="0" r="0" b="0"/>
            </a:stretch>
          </a:blipFill>
        </p:spPr>
      </p:sp>
      <p:sp>
        <p:nvSpPr>
          <p:cNvPr name="TextBox 24" id="24"/>
          <p:cNvSpPr txBox="true"/>
          <p:nvPr/>
        </p:nvSpPr>
        <p:spPr>
          <a:xfrm rot="0">
            <a:off x="11051050" y="1815814"/>
            <a:ext cx="7083046"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access flow</a:t>
            </a:r>
          </a:p>
        </p:txBody>
      </p:sp>
      <p:sp>
        <p:nvSpPr>
          <p:cNvPr name="TextBox 25" id="25"/>
          <p:cNvSpPr txBox="true"/>
          <p:nvPr/>
        </p:nvSpPr>
        <p:spPr>
          <a:xfrm rot="0">
            <a:off x="11218879" y="4165433"/>
            <a:ext cx="6747388" cy="3033395"/>
          </a:xfrm>
          <a:prstGeom prst="rect">
            <a:avLst/>
          </a:prstGeom>
        </p:spPr>
        <p:txBody>
          <a:bodyPr anchor="t" rtlCol="false" tIns="0" lIns="0" bIns="0" rIns="0">
            <a:spAutoFit/>
          </a:bodyPr>
          <a:lstStyle/>
          <a:p>
            <a:pPr algn="just">
              <a:lnSpc>
                <a:spcPts val="4480"/>
              </a:lnSpc>
              <a:spcBef>
                <a:spcPct val="0"/>
              </a:spcBef>
            </a:pPr>
            <a:r>
              <a:rPr lang="en-US" sz="3200">
                <a:solidFill>
                  <a:srgbClr val="19120C"/>
                </a:solidFill>
                <a:latin typeface="Jella"/>
                <a:ea typeface="Jella"/>
                <a:cs typeface="Jella"/>
                <a:sym typeface="Jella"/>
              </a:rPr>
              <a:t> </a:t>
            </a:r>
            <a:r>
              <a:rPr lang="en-US" sz="3200">
                <a:solidFill>
                  <a:srgbClr val="19120C"/>
                </a:solidFill>
                <a:latin typeface="Jella"/>
                <a:ea typeface="Jella"/>
                <a:cs typeface="Jella"/>
                <a:sym typeface="Jella"/>
              </a:rPr>
              <a:t>T</a:t>
            </a:r>
            <a:r>
              <a:rPr lang="en-US" sz="3200">
                <a:solidFill>
                  <a:srgbClr val="19120C"/>
                </a:solidFill>
                <a:latin typeface="Jella"/>
                <a:ea typeface="Jella"/>
                <a:cs typeface="Jella"/>
                <a:sym typeface="Jella"/>
              </a:rPr>
              <a:t>o access the system, users must enter their username and password. After providing these credentials, they simply click the Login button to continue.</a:t>
            </a:r>
          </a:p>
        </p:txBody>
      </p:sp>
      <p:grpSp>
        <p:nvGrpSpPr>
          <p:cNvPr name="Group 26" id="26"/>
          <p:cNvGrpSpPr/>
          <p:nvPr/>
        </p:nvGrpSpPr>
        <p:grpSpPr>
          <a:xfrm rot="0">
            <a:off x="4853030" y="3685183"/>
            <a:ext cx="6109737" cy="6271906"/>
            <a:chOff x="0" y="0"/>
            <a:chExt cx="1138075" cy="1168282"/>
          </a:xfrm>
        </p:grpSpPr>
        <p:sp>
          <p:nvSpPr>
            <p:cNvPr name="Freeform 27" id="27"/>
            <p:cNvSpPr/>
            <p:nvPr/>
          </p:nvSpPr>
          <p:spPr>
            <a:xfrm flipH="false" flipV="false" rot="0">
              <a:off x="0" y="0"/>
              <a:ext cx="1138075" cy="1168282"/>
            </a:xfrm>
            <a:custGeom>
              <a:avLst/>
              <a:gdLst/>
              <a:ahLst/>
              <a:cxnLst/>
              <a:rect r="r" b="b" t="t" l="l"/>
              <a:pathLst>
                <a:path h="1168282" w="1138075">
                  <a:moveTo>
                    <a:pt x="44350" y="0"/>
                  </a:moveTo>
                  <a:lnTo>
                    <a:pt x="1093725" y="0"/>
                  </a:lnTo>
                  <a:cubicBezTo>
                    <a:pt x="1105487" y="0"/>
                    <a:pt x="1116768" y="4673"/>
                    <a:pt x="1125085" y="12990"/>
                  </a:cubicBezTo>
                  <a:cubicBezTo>
                    <a:pt x="1133402" y="21307"/>
                    <a:pt x="1138075" y="32588"/>
                    <a:pt x="1138075" y="44350"/>
                  </a:cubicBezTo>
                  <a:lnTo>
                    <a:pt x="1138075" y="1123932"/>
                  </a:lnTo>
                  <a:cubicBezTo>
                    <a:pt x="1138075" y="1135695"/>
                    <a:pt x="1133402" y="1146975"/>
                    <a:pt x="1125085" y="1155293"/>
                  </a:cubicBezTo>
                  <a:cubicBezTo>
                    <a:pt x="1116768" y="1163610"/>
                    <a:pt x="1105487" y="1168282"/>
                    <a:pt x="1093725" y="1168282"/>
                  </a:cubicBezTo>
                  <a:lnTo>
                    <a:pt x="44350" y="1168282"/>
                  </a:lnTo>
                  <a:cubicBezTo>
                    <a:pt x="32588" y="1168282"/>
                    <a:pt x="21307" y="1163610"/>
                    <a:pt x="12990" y="1155293"/>
                  </a:cubicBezTo>
                  <a:cubicBezTo>
                    <a:pt x="4673" y="1146975"/>
                    <a:pt x="0" y="1135695"/>
                    <a:pt x="0" y="1123932"/>
                  </a:cubicBezTo>
                  <a:lnTo>
                    <a:pt x="0" y="44350"/>
                  </a:lnTo>
                  <a:cubicBezTo>
                    <a:pt x="0" y="32588"/>
                    <a:pt x="4673" y="21307"/>
                    <a:pt x="12990" y="12990"/>
                  </a:cubicBezTo>
                  <a:cubicBezTo>
                    <a:pt x="21307" y="4673"/>
                    <a:pt x="32588" y="0"/>
                    <a:pt x="44350" y="0"/>
                  </a:cubicBezTo>
                  <a:close/>
                </a:path>
              </a:pathLst>
            </a:custGeom>
            <a:blipFill>
              <a:blip r:embed="rId7"/>
              <a:stretch>
                <a:fillRect l="-58" t="0" r="-58" b="0"/>
              </a:stretch>
            </a:blipFill>
            <a:ln w="19050" cap="rnd">
              <a:solidFill>
                <a:srgbClr val="000000"/>
              </a:solidFill>
              <a:prstDash val="solid"/>
              <a:round/>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724561" y="2011750"/>
            <a:ext cx="14713031" cy="1433114"/>
            <a:chOff x="0" y="0"/>
            <a:chExt cx="3875037" cy="377446"/>
          </a:xfrm>
        </p:grpSpPr>
        <p:sp>
          <p:nvSpPr>
            <p:cNvPr name="Freeform 14" id="14"/>
            <p:cNvSpPr/>
            <p:nvPr/>
          </p:nvSpPr>
          <p:spPr>
            <a:xfrm flipH="false" flipV="false" rot="0">
              <a:off x="0" y="0"/>
              <a:ext cx="3875037" cy="377446"/>
            </a:xfrm>
            <a:custGeom>
              <a:avLst/>
              <a:gdLst/>
              <a:ahLst/>
              <a:cxnLst/>
              <a:rect r="r" b="b" t="t" l="l"/>
              <a:pathLst>
                <a:path h="377446" w="3875037">
                  <a:moveTo>
                    <a:pt x="52619" y="0"/>
                  </a:moveTo>
                  <a:lnTo>
                    <a:pt x="3822417" y="0"/>
                  </a:lnTo>
                  <a:cubicBezTo>
                    <a:pt x="3851478" y="0"/>
                    <a:pt x="3875037" y="23559"/>
                    <a:pt x="3875037" y="52619"/>
                  </a:cubicBezTo>
                  <a:lnTo>
                    <a:pt x="3875037" y="324826"/>
                  </a:lnTo>
                  <a:cubicBezTo>
                    <a:pt x="3875037" y="338782"/>
                    <a:pt x="3869493" y="352166"/>
                    <a:pt x="3859625" y="362034"/>
                  </a:cubicBezTo>
                  <a:cubicBezTo>
                    <a:pt x="3849757" y="371902"/>
                    <a:pt x="3836373" y="377446"/>
                    <a:pt x="3822417" y="377446"/>
                  </a:cubicBezTo>
                  <a:lnTo>
                    <a:pt x="52619" y="377446"/>
                  </a:lnTo>
                  <a:cubicBezTo>
                    <a:pt x="38664" y="377446"/>
                    <a:pt x="25280" y="371902"/>
                    <a:pt x="15412" y="362034"/>
                  </a:cubicBezTo>
                  <a:cubicBezTo>
                    <a:pt x="5544" y="352166"/>
                    <a:pt x="0" y="338782"/>
                    <a:pt x="0" y="324826"/>
                  </a:cubicBezTo>
                  <a:lnTo>
                    <a:pt x="0" y="52619"/>
                  </a:lnTo>
                  <a:cubicBezTo>
                    <a:pt x="0" y="38664"/>
                    <a:pt x="5544" y="25280"/>
                    <a:pt x="15412" y="15412"/>
                  </a:cubicBezTo>
                  <a:cubicBezTo>
                    <a:pt x="25280" y="5544"/>
                    <a:pt x="38664" y="0"/>
                    <a:pt x="52619" y="0"/>
                  </a:cubicBezTo>
                  <a:close/>
                </a:path>
              </a:pathLst>
            </a:custGeom>
            <a:solidFill>
              <a:srgbClr val="FDD41C">
                <a:alpha val="77647"/>
              </a:srgbClr>
            </a:solidFill>
          </p:spPr>
        </p:sp>
        <p:sp>
          <p:nvSpPr>
            <p:cNvPr name="TextBox 15" id="15"/>
            <p:cNvSpPr txBox="true"/>
            <p:nvPr/>
          </p:nvSpPr>
          <p:spPr>
            <a:xfrm>
              <a:off x="0" y="-38100"/>
              <a:ext cx="3875037" cy="415546"/>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2043708" y="4056658"/>
            <a:ext cx="14393884" cy="4483464"/>
            <a:chOff x="0" y="0"/>
            <a:chExt cx="3790982" cy="1180830"/>
          </a:xfrm>
        </p:grpSpPr>
        <p:sp>
          <p:nvSpPr>
            <p:cNvPr name="Freeform 17" id="17"/>
            <p:cNvSpPr/>
            <p:nvPr/>
          </p:nvSpPr>
          <p:spPr>
            <a:xfrm flipH="false" flipV="false" rot="0">
              <a:off x="0" y="0"/>
              <a:ext cx="3790982" cy="1180830"/>
            </a:xfrm>
            <a:custGeom>
              <a:avLst/>
              <a:gdLst/>
              <a:ahLst/>
              <a:cxnLst/>
              <a:rect r="r" b="b" t="t" l="l"/>
              <a:pathLst>
                <a:path h="1180830" w="3790982">
                  <a:moveTo>
                    <a:pt x="33885" y="0"/>
                  </a:moveTo>
                  <a:lnTo>
                    <a:pt x="3757097" y="0"/>
                  </a:lnTo>
                  <a:cubicBezTo>
                    <a:pt x="3775811" y="0"/>
                    <a:pt x="3790982" y="15171"/>
                    <a:pt x="3790982" y="33885"/>
                  </a:cubicBezTo>
                  <a:lnTo>
                    <a:pt x="3790982" y="1146945"/>
                  </a:lnTo>
                  <a:cubicBezTo>
                    <a:pt x="3790982" y="1155931"/>
                    <a:pt x="3787412" y="1164550"/>
                    <a:pt x="3781057" y="1170905"/>
                  </a:cubicBezTo>
                  <a:cubicBezTo>
                    <a:pt x="3774702" y="1177260"/>
                    <a:pt x="3766083" y="1180830"/>
                    <a:pt x="3757097" y="1180830"/>
                  </a:cubicBezTo>
                  <a:lnTo>
                    <a:pt x="33885" y="1180830"/>
                  </a:lnTo>
                  <a:cubicBezTo>
                    <a:pt x="15171" y="1180830"/>
                    <a:pt x="0" y="1165659"/>
                    <a:pt x="0" y="1146945"/>
                  </a:cubicBezTo>
                  <a:lnTo>
                    <a:pt x="0" y="33885"/>
                  </a:lnTo>
                  <a:cubicBezTo>
                    <a:pt x="0" y="15171"/>
                    <a:pt x="15171" y="0"/>
                    <a:pt x="33885" y="0"/>
                  </a:cubicBezTo>
                  <a:close/>
                </a:path>
              </a:pathLst>
            </a:custGeom>
            <a:solidFill>
              <a:srgbClr val="FDD41C">
                <a:alpha val="44706"/>
              </a:srgbClr>
            </a:solidFill>
          </p:spPr>
        </p:sp>
        <p:sp>
          <p:nvSpPr>
            <p:cNvPr name="TextBox 18" id="18"/>
            <p:cNvSpPr txBox="true"/>
            <p:nvPr/>
          </p:nvSpPr>
          <p:spPr>
            <a:xfrm>
              <a:off x="0" y="-38100"/>
              <a:ext cx="3790982"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690180" y="4761173"/>
            <a:ext cx="3377662" cy="5525827"/>
          </a:xfrm>
          <a:custGeom>
            <a:avLst/>
            <a:gdLst/>
            <a:ahLst/>
            <a:cxnLst/>
            <a:rect r="r" b="b" t="t" l="l"/>
            <a:pathLst>
              <a:path h="5525827" w="3377662">
                <a:moveTo>
                  <a:pt x="0" y="0"/>
                </a:moveTo>
                <a:lnTo>
                  <a:pt x="3377661" y="0"/>
                </a:lnTo>
                <a:lnTo>
                  <a:pt x="3377661" y="5525827"/>
                </a:lnTo>
                <a:lnTo>
                  <a:pt x="0" y="5525827"/>
                </a:lnTo>
                <a:lnTo>
                  <a:pt x="0" y="0"/>
                </a:lnTo>
                <a:close/>
              </a:path>
            </a:pathLst>
          </a:custGeom>
          <a:blipFill>
            <a:blip r:embed="rId6"/>
            <a:stretch>
              <a:fillRect l="0" t="0" r="0" b="0"/>
            </a:stretch>
          </a:blipFill>
        </p:spPr>
      </p:sp>
      <p:sp>
        <p:nvSpPr>
          <p:cNvPr name="TextBox 23" id="23"/>
          <p:cNvSpPr txBox="true"/>
          <p:nvPr/>
        </p:nvSpPr>
        <p:spPr>
          <a:xfrm rot="0">
            <a:off x="10877103" y="1764653"/>
            <a:ext cx="6382197"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ADMIN FO</a:t>
            </a:r>
            <a:r>
              <a:rPr lang="en-US" sz="9600">
                <a:solidFill>
                  <a:srgbClr val="000000"/>
                </a:solidFill>
                <a:latin typeface="Bobby Jones Condensed Soft"/>
                <a:ea typeface="Bobby Jones Condensed Soft"/>
                <a:cs typeface="Bobby Jones Condensed Soft"/>
                <a:sym typeface="Bobby Jones Condensed Soft"/>
              </a:rPr>
              <a:t>RM</a:t>
            </a:r>
          </a:p>
        </p:txBody>
      </p:sp>
      <p:sp>
        <p:nvSpPr>
          <p:cNvPr name="TextBox 24" id="24"/>
          <p:cNvSpPr txBox="true"/>
          <p:nvPr/>
        </p:nvSpPr>
        <p:spPr>
          <a:xfrm rot="0">
            <a:off x="2687481" y="4381024"/>
            <a:ext cx="6182654" cy="4629988"/>
          </a:xfrm>
          <a:prstGeom prst="rect">
            <a:avLst/>
          </a:prstGeom>
        </p:spPr>
        <p:txBody>
          <a:bodyPr anchor="t" rtlCol="false" tIns="0" lIns="0" bIns="0" rIns="0">
            <a:spAutoFit/>
          </a:bodyPr>
          <a:lstStyle/>
          <a:p>
            <a:pPr algn="just">
              <a:lnSpc>
                <a:spcPts val="3058"/>
              </a:lnSpc>
              <a:spcBef>
                <a:spcPct val="0"/>
              </a:spcBef>
            </a:pPr>
            <a:r>
              <a:rPr lang="en-US" sz="2184">
                <a:solidFill>
                  <a:srgbClr val="19120C"/>
                </a:solidFill>
                <a:latin typeface="Jella"/>
                <a:ea typeface="Jella"/>
                <a:cs typeface="Jella"/>
                <a:sym typeface="Jella"/>
              </a:rPr>
              <a:t>If th</a:t>
            </a:r>
            <a:r>
              <a:rPr lang="en-US" sz="2184">
                <a:solidFill>
                  <a:srgbClr val="19120C"/>
                </a:solidFill>
                <a:latin typeface="Jella"/>
                <a:ea typeface="Jella"/>
                <a:cs typeface="Jella"/>
                <a:sym typeface="Jella"/>
              </a:rPr>
              <a:t>e user is an administrator, the system will redirect them to the Admin Form, designed for managing the overall database system. Administrators can oversee departments, allocate budgets, and maintain system security. This ensures that the institution’s data remains accurate, protected, and well-organized for all users.</a:t>
            </a:r>
          </a:p>
          <a:p>
            <a:pPr algn="just">
              <a:lnSpc>
                <a:spcPts val="3744"/>
              </a:lnSpc>
              <a:spcBef>
                <a:spcPct val="0"/>
              </a:spcBef>
            </a:pPr>
          </a:p>
          <a:p>
            <a:pPr algn="just">
              <a:lnSpc>
                <a:spcPts val="3744"/>
              </a:lnSpc>
              <a:spcBef>
                <a:spcPct val="0"/>
              </a:spcBef>
            </a:pPr>
          </a:p>
          <a:p>
            <a:pPr algn="just">
              <a:lnSpc>
                <a:spcPts val="3744"/>
              </a:lnSpc>
              <a:spcBef>
                <a:spcPct val="0"/>
              </a:spcBef>
            </a:pPr>
          </a:p>
        </p:txBody>
      </p:sp>
      <p:grpSp>
        <p:nvGrpSpPr>
          <p:cNvPr name="Group 25" id="25"/>
          <p:cNvGrpSpPr/>
          <p:nvPr/>
        </p:nvGrpSpPr>
        <p:grpSpPr>
          <a:xfrm rot="0">
            <a:off x="9086528" y="4522348"/>
            <a:ext cx="9117785" cy="3599680"/>
            <a:chOff x="0" y="0"/>
            <a:chExt cx="4206029" cy="1660531"/>
          </a:xfrm>
        </p:grpSpPr>
        <p:sp>
          <p:nvSpPr>
            <p:cNvPr name="Freeform 26" id="26"/>
            <p:cNvSpPr/>
            <p:nvPr/>
          </p:nvSpPr>
          <p:spPr>
            <a:xfrm flipH="false" flipV="false" rot="0">
              <a:off x="0" y="0"/>
              <a:ext cx="4206029" cy="1660531"/>
            </a:xfrm>
            <a:custGeom>
              <a:avLst/>
              <a:gdLst/>
              <a:ahLst/>
              <a:cxnLst/>
              <a:rect r="r" b="b" t="t" l="l"/>
              <a:pathLst>
                <a:path h="1660531" w="4206029">
                  <a:moveTo>
                    <a:pt x="29719" y="0"/>
                  </a:moveTo>
                  <a:lnTo>
                    <a:pt x="4176311" y="0"/>
                  </a:lnTo>
                  <a:cubicBezTo>
                    <a:pt x="4192724" y="0"/>
                    <a:pt x="4206029" y="13305"/>
                    <a:pt x="4206029" y="29719"/>
                  </a:cubicBezTo>
                  <a:lnTo>
                    <a:pt x="4206029" y="1630812"/>
                  </a:lnTo>
                  <a:cubicBezTo>
                    <a:pt x="4206029" y="1638694"/>
                    <a:pt x="4202898" y="1646253"/>
                    <a:pt x="4197325" y="1651826"/>
                  </a:cubicBezTo>
                  <a:cubicBezTo>
                    <a:pt x="4191752" y="1657400"/>
                    <a:pt x="4184193" y="1660531"/>
                    <a:pt x="4176311" y="1660531"/>
                  </a:cubicBezTo>
                  <a:lnTo>
                    <a:pt x="29719" y="1660531"/>
                  </a:lnTo>
                  <a:cubicBezTo>
                    <a:pt x="21837" y="1660531"/>
                    <a:pt x="14278" y="1657400"/>
                    <a:pt x="8704" y="1651826"/>
                  </a:cubicBezTo>
                  <a:cubicBezTo>
                    <a:pt x="3131" y="1646253"/>
                    <a:pt x="0" y="1638694"/>
                    <a:pt x="0" y="1630812"/>
                  </a:cubicBezTo>
                  <a:lnTo>
                    <a:pt x="0" y="29719"/>
                  </a:lnTo>
                  <a:cubicBezTo>
                    <a:pt x="0" y="21837"/>
                    <a:pt x="3131" y="14278"/>
                    <a:pt x="8704" y="8704"/>
                  </a:cubicBezTo>
                  <a:cubicBezTo>
                    <a:pt x="14278" y="3131"/>
                    <a:pt x="21837" y="0"/>
                    <a:pt x="29719" y="0"/>
                  </a:cubicBezTo>
                  <a:close/>
                </a:path>
              </a:pathLst>
            </a:custGeom>
            <a:blipFill>
              <a:blip r:embed="rId7"/>
              <a:stretch>
                <a:fillRect l="-31" t="0" r="-31" b="0"/>
              </a:stretch>
            </a:blipFill>
            <a:ln w="28575" cap="rnd">
              <a:solidFill>
                <a:srgbClr val="000000"/>
              </a:solidFill>
              <a:prstDash val="solid"/>
              <a:round/>
            </a:ln>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365130"/>
            <a:ext cx="964814" cy="927976"/>
          </a:xfrm>
          <a:custGeom>
            <a:avLst/>
            <a:gdLst/>
            <a:ahLst/>
            <a:cxnLst/>
            <a:rect r="r" b="b" t="t" l="l"/>
            <a:pathLst>
              <a:path h="927976" w="964814">
                <a:moveTo>
                  <a:pt x="0" y="0"/>
                </a:moveTo>
                <a:lnTo>
                  <a:pt x="964815" y="0"/>
                </a:lnTo>
                <a:lnTo>
                  <a:pt x="964815"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339301" y="845659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28700" y="-1401635"/>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8870135" y="-939409"/>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3896389" cy="1466349"/>
            <a:chOff x="0" y="0"/>
            <a:chExt cx="3659954" cy="386199"/>
          </a:xfrm>
        </p:grpSpPr>
        <p:sp>
          <p:nvSpPr>
            <p:cNvPr name="Freeform 15" id="15"/>
            <p:cNvSpPr/>
            <p:nvPr/>
          </p:nvSpPr>
          <p:spPr>
            <a:xfrm flipH="false" flipV="false" rot="0">
              <a:off x="0" y="0"/>
              <a:ext cx="3659954" cy="386199"/>
            </a:xfrm>
            <a:custGeom>
              <a:avLst/>
              <a:gdLst/>
              <a:ahLst/>
              <a:cxnLst/>
              <a:rect r="r" b="b" t="t" l="l"/>
              <a:pathLst>
                <a:path h="386199" w="3659954">
                  <a:moveTo>
                    <a:pt x="55712" y="0"/>
                  </a:moveTo>
                  <a:lnTo>
                    <a:pt x="3604242" y="0"/>
                  </a:lnTo>
                  <a:cubicBezTo>
                    <a:pt x="3619018" y="0"/>
                    <a:pt x="3633189" y="5870"/>
                    <a:pt x="3643637" y="16318"/>
                  </a:cubicBezTo>
                  <a:cubicBezTo>
                    <a:pt x="3654084" y="26766"/>
                    <a:pt x="3659954" y="40936"/>
                    <a:pt x="3659954" y="55712"/>
                  </a:cubicBezTo>
                  <a:lnTo>
                    <a:pt x="3659954" y="330487"/>
                  </a:lnTo>
                  <a:cubicBezTo>
                    <a:pt x="3659954" y="345263"/>
                    <a:pt x="3654084" y="359433"/>
                    <a:pt x="3643637" y="369881"/>
                  </a:cubicBezTo>
                  <a:cubicBezTo>
                    <a:pt x="3633189" y="380329"/>
                    <a:pt x="3619018" y="386199"/>
                    <a:pt x="3604242" y="386199"/>
                  </a:cubicBezTo>
                  <a:lnTo>
                    <a:pt x="55712" y="386199"/>
                  </a:lnTo>
                  <a:cubicBezTo>
                    <a:pt x="40936" y="386199"/>
                    <a:pt x="26766" y="380329"/>
                    <a:pt x="16318" y="369881"/>
                  </a:cubicBezTo>
                  <a:cubicBezTo>
                    <a:pt x="5870" y="359433"/>
                    <a:pt x="0" y="345263"/>
                    <a:pt x="0" y="330487"/>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4299"/>
            </a:xfrm>
            <a:prstGeom prst="rect">
              <a:avLst/>
            </a:prstGeom>
          </p:spPr>
          <p:txBody>
            <a:bodyPr anchor="ctr" rtlCol="false" tIns="50800" lIns="50800" bIns="50800" rIns="50800"/>
            <a:lstStyle/>
            <a:p>
              <a:pPr algn="ctr">
                <a:lnSpc>
                  <a:spcPts val="2659"/>
                </a:lnSpc>
                <a:spcBef>
                  <a:spcPct val="0"/>
                </a:spcBef>
              </a:pPr>
            </a:p>
          </p:txBody>
        </p:sp>
      </p:grpSp>
      <p:sp>
        <p:nvSpPr>
          <p:cNvPr name="Freeform 17" id="17"/>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724561" y="3988414"/>
            <a:ext cx="5735874" cy="5686901"/>
            <a:chOff x="0" y="0"/>
            <a:chExt cx="1510683" cy="1497785"/>
          </a:xfrm>
        </p:grpSpPr>
        <p:sp>
          <p:nvSpPr>
            <p:cNvPr name="Freeform 19" id="19"/>
            <p:cNvSpPr/>
            <p:nvPr/>
          </p:nvSpPr>
          <p:spPr>
            <a:xfrm flipH="false" flipV="false" rot="0">
              <a:off x="0" y="0"/>
              <a:ext cx="1510683" cy="1497785"/>
            </a:xfrm>
            <a:custGeom>
              <a:avLst/>
              <a:gdLst/>
              <a:ahLst/>
              <a:cxnLst/>
              <a:rect r="r" b="b" t="t" l="l"/>
              <a:pathLst>
                <a:path h="1497785" w="1510683">
                  <a:moveTo>
                    <a:pt x="85033" y="0"/>
                  </a:moveTo>
                  <a:lnTo>
                    <a:pt x="1425650" y="0"/>
                  </a:lnTo>
                  <a:cubicBezTo>
                    <a:pt x="1448202" y="0"/>
                    <a:pt x="1469830" y="8959"/>
                    <a:pt x="1485777" y="24906"/>
                  </a:cubicBezTo>
                  <a:cubicBezTo>
                    <a:pt x="1501724" y="40853"/>
                    <a:pt x="1510683" y="62481"/>
                    <a:pt x="1510683" y="85033"/>
                  </a:cubicBezTo>
                  <a:lnTo>
                    <a:pt x="1510683" y="1412751"/>
                  </a:lnTo>
                  <a:cubicBezTo>
                    <a:pt x="1510683" y="1459714"/>
                    <a:pt x="1472612" y="1497785"/>
                    <a:pt x="1425650" y="1497785"/>
                  </a:cubicBezTo>
                  <a:lnTo>
                    <a:pt x="85033" y="1497785"/>
                  </a:lnTo>
                  <a:cubicBezTo>
                    <a:pt x="38071" y="1497785"/>
                    <a:pt x="0" y="1459714"/>
                    <a:pt x="0" y="1412751"/>
                  </a:cubicBezTo>
                  <a:lnTo>
                    <a:pt x="0" y="85033"/>
                  </a:lnTo>
                  <a:cubicBezTo>
                    <a:pt x="0" y="38071"/>
                    <a:pt x="38071" y="0"/>
                    <a:pt x="85033" y="0"/>
                  </a:cubicBezTo>
                  <a:close/>
                </a:path>
              </a:pathLst>
            </a:custGeom>
            <a:solidFill>
              <a:srgbClr val="FDD41C">
                <a:alpha val="44706"/>
              </a:srgbClr>
            </a:solidFill>
          </p:spPr>
        </p:sp>
        <p:sp>
          <p:nvSpPr>
            <p:cNvPr name="TextBox 20" id="20"/>
            <p:cNvSpPr txBox="true"/>
            <p:nvPr/>
          </p:nvSpPr>
          <p:spPr>
            <a:xfrm>
              <a:off x="0" y="-38100"/>
              <a:ext cx="1510683" cy="1535885"/>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2265211" y="1764653"/>
            <a:ext cx="10826965"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 course management</a:t>
            </a:r>
          </a:p>
        </p:txBody>
      </p:sp>
      <p:sp>
        <p:nvSpPr>
          <p:cNvPr name="TextBox 24" id="24"/>
          <p:cNvSpPr txBox="true"/>
          <p:nvPr/>
        </p:nvSpPr>
        <p:spPr>
          <a:xfrm rot="0">
            <a:off x="1851892" y="4641120"/>
            <a:ext cx="5330361" cy="3667778"/>
          </a:xfrm>
          <a:prstGeom prst="rect">
            <a:avLst/>
          </a:prstGeom>
        </p:spPr>
        <p:txBody>
          <a:bodyPr anchor="t" rtlCol="false" tIns="0" lIns="0" bIns="0" rIns="0">
            <a:spAutoFit/>
          </a:bodyPr>
          <a:lstStyle/>
          <a:p>
            <a:pPr algn="just">
              <a:lnSpc>
                <a:spcPts val="3081"/>
              </a:lnSpc>
              <a:spcBef>
                <a:spcPct val="0"/>
              </a:spcBef>
            </a:pPr>
            <a:r>
              <a:rPr lang="en-US" sz="2201">
                <a:solidFill>
                  <a:srgbClr val="19120C"/>
                </a:solidFill>
                <a:latin typeface="Jella"/>
                <a:ea typeface="Jella"/>
                <a:cs typeface="Jella"/>
                <a:sym typeface="Jella"/>
              </a:rPr>
              <a:t>Th</a:t>
            </a:r>
            <a:r>
              <a:rPr lang="en-US" sz="2201">
                <a:solidFill>
                  <a:srgbClr val="19120C"/>
                </a:solidFill>
                <a:latin typeface="Jella"/>
                <a:ea typeface="Jella"/>
                <a:cs typeface="Jella"/>
                <a:sym typeface="Jella"/>
              </a:rPr>
              <a:t>e Course Management tab allows administrators to view, edit, and delete course records stored in the database. To modify a course, select it from the table, update the necessary fields such as title, department, or assigned instructor, then click Save to confirm.</a:t>
            </a:r>
          </a:p>
          <a:p>
            <a:pPr algn="just">
              <a:lnSpc>
                <a:spcPts val="3081"/>
              </a:lnSpc>
              <a:spcBef>
                <a:spcPct val="0"/>
              </a:spcBef>
            </a:pPr>
          </a:p>
        </p:txBody>
      </p:sp>
      <p:sp>
        <p:nvSpPr>
          <p:cNvPr name="Freeform 25" id="25"/>
          <p:cNvSpPr/>
          <p:nvPr/>
        </p:nvSpPr>
        <p:spPr>
          <a:xfrm flipH="false" flipV="false" rot="0">
            <a:off x="7262553" y="4461671"/>
            <a:ext cx="8358396" cy="3847227"/>
          </a:xfrm>
          <a:custGeom>
            <a:avLst/>
            <a:gdLst/>
            <a:ahLst/>
            <a:cxnLst/>
            <a:rect r="r" b="b" t="t" l="l"/>
            <a:pathLst>
              <a:path h="3847227" w="8358396">
                <a:moveTo>
                  <a:pt x="0" y="0"/>
                </a:moveTo>
                <a:lnTo>
                  <a:pt x="8358396" y="0"/>
                </a:lnTo>
                <a:lnTo>
                  <a:pt x="8358396" y="3847227"/>
                </a:lnTo>
                <a:lnTo>
                  <a:pt x="0" y="3847227"/>
                </a:lnTo>
                <a:lnTo>
                  <a:pt x="0" y="0"/>
                </a:lnTo>
                <a:close/>
              </a:path>
            </a:pathLst>
          </a:custGeom>
          <a:blipFill>
            <a:blip r:embed="rId6"/>
            <a:stretch>
              <a:fillRect l="0" t="0" r="0" b="0"/>
            </a:stretch>
          </a:blipFill>
        </p:spPr>
      </p:sp>
      <p:sp>
        <p:nvSpPr>
          <p:cNvPr name="Freeform 26" id="26"/>
          <p:cNvSpPr/>
          <p:nvPr/>
        </p:nvSpPr>
        <p:spPr>
          <a:xfrm flipH="true" flipV="false" rot="0">
            <a:off x="14160288" y="2744924"/>
            <a:ext cx="4778083" cy="7509757"/>
          </a:xfrm>
          <a:custGeom>
            <a:avLst/>
            <a:gdLst/>
            <a:ahLst/>
            <a:cxnLst/>
            <a:rect r="r" b="b" t="t" l="l"/>
            <a:pathLst>
              <a:path h="7509757" w="4778083">
                <a:moveTo>
                  <a:pt x="4778082" y="0"/>
                </a:moveTo>
                <a:lnTo>
                  <a:pt x="0" y="0"/>
                </a:lnTo>
                <a:lnTo>
                  <a:pt x="0" y="7509757"/>
                </a:lnTo>
                <a:lnTo>
                  <a:pt x="4778082" y="7509757"/>
                </a:lnTo>
                <a:lnTo>
                  <a:pt x="4778082" y="0"/>
                </a:lnTo>
                <a:close/>
              </a:path>
            </a:pathLst>
          </a:custGeom>
          <a:blipFill>
            <a:blip r:embed="rId7"/>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3896389" cy="1466349"/>
            <a:chOff x="0" y="0"/>
            <a:chExt cx="3659954" cy="386199"/>
          </a:xfrm>
        </p:grpSpPr>
        <p:sp>
          <p:nvSpPr>
            <p:cNvPr name="Freeform 15" id="15"/>
            <p:cNvSpPr/>
            <p:nvPr/>
          </p:nvSpPr>
          <p:spPr>
            <a:xfrm flipH="false" flipV="false" rot="0">
              <a:off x="0" y="0"/>
              <a:ext cx="3659954" cy="386199"/>
            </a:xfrm>
            <a:custGeom>
              <a:avLst/>
              <a:gdLst/>
              <a:ahLst/>
              <a:cxnLst/>
              <a:rect r="r" b="b" t="t" l="l"/>
              <a:pathLst>
                <a:path h="386199" w="3659954">
                  <a:moveTo>
                    <a:pt x="55712" y="0"/>
                  </a:moveTo>
                  <a:lnTo>
                    <a:pt x="3604242" y="0"/>
                  </a:lnTo>
                  <a:cubicBezTo>
                    <a:pt x="3619018" y="0"/>
                    <a:pt x="3633189" y="5870"/>
                    <a:pt x="3643637" y="16318"/>
                  </a:cubicBezTo>
                  <a:cubicBezTo>
                    <a:pt x="3654084" y="26766"/>
                    <a:pt x="3659954" y="40936"/>
                    <a:pt x="3659954" y="55712"/>
                  </a:cubicBezTo>
                  <a:lnTo>
                    <a:pt x="3659954" y="330487"/>
                  </a:lnTo>
                  <a:cubicBezTo>
                    <a:pt x="3659954" y="345263"/>
                    <a:pt x="3654084" y="359433"/>
                    <a:pt x="3643637" y="369881"/>
                  </a:cubicBezTo>
                  <a:cubicBezTo>
                    <a:pt x="3633189" y="380329"/>
                    <a:pt x="3619018" y="386199"/>
                    <a:pt x="3604242" y="386199"/>
                  </a:cubicBezTo>
                  <a:lnTo>
                    <a:pt x="55712" y="386199"/>
                  </a:lnTo>
                  <a:cubicBezTo>
                    <a:pt x="40936" y="386199"/>
                    <a:pt x="26766" y="380329"/>
                    <a:pt x="16318" y="369881"/>
                  </a:cubicBezTo>
                  <a:cubicBezTo>
                    <a:pt x="5870" y="359433"/>
                    <a:pt x="0" y="345263"/>
                    <a:pt x="0" y="330487"/>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429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24561" y="3988414"/>
            <a:ext cx="13896389" cy="4483464"/>
            <a:chOff x="0" y="0"/>
            <a:chExt cx="3659954" cy="1180830"/>
          </a:xfrm>
        </p:grpSpPr>
        <p:sp>
          <p:nvSpPr>
            <p:cNvPr name="Freeform 18" id="18"/>
            <p:cNvSpPr/>
            <p:nvPr/>
          </p:nvSpPr>
          <p:spPr>
            <a:xfrm flipH="false" flipV="false" rot="0">
              <a:off x="0" y="0"/>
              <a:ext cx="3659954" cy="1180830"/>
            </a:xfrm>
            <a:custGeom>
              <a:avLst/>
              <a:gdLst/>
              <a:ahLst/>
              <a:cxnLst/>
              <a:rect r="r" b="b" t="t" l="l"/>
              <a:pathLst>
                <a:path h="1180830" w="3659954">
                  <a:moveTo>
                    <a:pt x="35098" y="0"/>
                  </a:moveTo>
                  <a:lnTo>
                    <a:pt x="3624856" y="0"/>
                  </a:lnTo>
                  <a:cubicBezTo>
                    <a:pt x="3634164" y="0"/>
                    <a:pt x="3643092" y="3698"/>
                    <a:pt x="3649674" y="10280"/>
                  </a:cubicBezTo>
                  <a:cubicBezTo>
                    <a:pt x="3656256" y="16862"/>
                    <a:pt x="3659954" y="25790"/>
                    <a:pt x="3659954" y="35098"/>
                  </a:cubicBezTo>
                  <a:lnTo>
                    <a:pt x="3659954" y="1145731"/>
                  </a:lnTo>
                  <a:cubicBezTo>
                    <a:pt x="3659954" y="1155040"/>
                    <a:pt x="3656256" y="1163968"/>
                    <a:pt x="3649674" y="1170550"/>
                  </a:cubicBezTo>
                  <a:cubicBezTo>
                    <a:pt x="3643092" y="1177132"/>
                    <a:pt x="3634164" y="1180830"/>
                    <a:pt x="3624856" y="1180830"/>
                  </a:cubicBezTo>
                  <a:lnTo>
                    <a:pt x="35098" y="1180830"/>
                  </a:lnTo>
                  <a:cubicBezTo>
                    <a:pt x="15714" y="1180830"/>
                    <a:pt x="0" y="1165116"/>
                    <a:pt x="0" y="1145731"/>
                  </a:cubicBezTo>
                  <a:lnTo>
                    <a:pt x="0" y="35098"/>
                  </a:lnTo>
                  <a:cubicBezTo>
                    <a:pt x="0" y="25790"/>
                    <a:pt x="3698" y="16862"/>
                    <a:pt x="10280" y="10280"/>
                  </a:cubicBezTo>
                  <a:cubicBezTo>
                    <a:pt x="16862" y="3698"/>
                    <a:pt x="25790" y="0"/>
                    <a:pt x="35098" y="0"/>
                  </a:cubicBezTo>
                  <a:close/>
                </a:path>
              </a:pathLst>
            </a:custGeom>
            <a:solidFill>
              <a:srgbClr val="FDD41C">
                <a:alpha val="44706"/>
              </a:srgbClr>
            </a:solidFill>
          </p:spPr>
        </p:sp>
        <p:sp>
          <p:nvSpPr>
            <p:cNvPr name="TextBox 19" id="19"/>
            <p:cNvSpPr txBox="true"/>
            <p:nvPr/>
          </p:nvSpPr>
          <p:spPr>
            <a:xfrm>
              <a:off x="0" y="-38100"/>
              <a:ext cx="3659954"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2265211" y="1764653"/>
            <a:ext cx="11023204"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department management</a:t>
            </a:r>
          </a:p>
        </p:txBody>
      </p:sp>
      <p:sp>
        <p:nvSpPr>
          <p:cNvPr name="TextBox 24" id="24"/>
          <p:cNvSpPr txBox="true"/>
          <p:nvPr/>
        </p:nvSpPr>
        <p:spPr>
          <a:xfrm rot="0">
            <a:off x="1934703" y="4028918"/>
            <a:ext cx="5269975" cy="4221480"/>
          </a:xfrm>
          <a:prstGeom prst="rect">
            <a:avLst/>
          </a:prstGeom>
        </p:spPr>
        <p:txBody>
          <a:bodyPr anchor="t" rtlCol="false" tIns="0" lIns="0" bIns="0" rIns="0">
            <a:spAutoFit/>
          </a:bodyPr>
          <a:lstStyle/>
          <a:p>
            <a:pPr algn="just">
              <a:lnSpc>
                <a:spcPts val="2520"/>
              </a:lnSpc>
              <a:spcBef>
                <a:spcPct val="0"/>
              </a:spcBef>
            </a:pPr>
            <a:r>
              <a:rPr lang="en-US" sz="1800">
                <a:solidFill>
                  <a:srgbClr val="19120C"/>
                </a:solidFill>
                <a:latin typeface="Jella"/>
                <a:ea typeface="Jella"/>
                <a:cs typeface="Jella"/>
                <a:sym typeface="Jella"/>
              </a:rPr>
              <a:t>The Depa</a:t>
            </a:r>
            <a:r>
              <a:rPr lang="en-US" sz="1800">
                <a:solidFill>
                  <a:srgbClr val="19120C"/>
                </a:solidFill>
                <a:latin typeface="Jella"/>
                <a:ea typeface="Jella"/>
                <a:cs typeface="Jella"/>
                <a:sym typeface="Jella"/>
              </a:rPr>
              <a:t>rtment Management tab gives administrators a complete overview of all university departments, displaying each department's name, building, budget, and linked courses, instructors, and students. Admins can add a new department by filling in the required fields and clicking Add New, or update existing records by selecting a department and clicking Save. Any changes made across the system will automatically reflect here, keeping all department data organized and accurate at all times.</a:t>
            </a:r>
          </a:p>
          <a:p>
            <a:pPr algn="just">
              <a:lnSpc>
                <a:spcPts val="2520"/>
              </a:lnSpc>
              <a:spcBef>
                <a:spcPct val="0"/>
              </a:spcBef>
            </a:pPr>
          </a:p>
        </p:txBody>
      </p:sp>
      <p:sp>
        <p:nvSpPr>
          <p:cNvPr name="Freeform 25" id="25"/>
          <p:cNvSpPr/>
          <p:nvPr/>
        </p:nvSpPr>
        <p:spPr>
          <a:xfrm flipH="false" flipV="false" rot="0">
            <a:off x="7287567" y="4127274"/>
            <a:ext cx="8061360" cy="3745594"/>
          </a:xfrm>
          <a:custGeom>
            <a:avLst/>
            <a:gdLst/>
            <a:ahLst/>
            <a:cxnLst/>
            <a:rect r="r" b="b" t="t" l="l"/>
            <a:pathLst>
              <a:path h="3745594" w="8061360">
                <a:moveTo>
                  <a:pt x="0" y="0"/>
                </a:moveTo>
                <a:lnTo>
                  <a:pt x="8061360" y="0"/>
                </a:lnTo>
                <a:lnTo>
                  <a:pt x="8061360" y="3745594"/>
                </a:lnTo>
                <a:lnTo>
                  <a:pt x="0" y="3745594"/>
                </a:lnTo>
                <a:lnTo>
                  <a:pt x="0" y="0"/>
                </a:lnTo>
                <a:close/>
              </a:path>
            </a:pathLst>
          </a:custGeom>
          <a:blipFill>
            <a:blip r:embed="rId6"/>
            <a:stretch>
              <a:fillRect l="0" t="0" r="0" b="0"/>
            </a:stretch>
          </a:blipFill>
        </p:spPr>
      </p:sp>
      <p:sp>
        <p:nvSpPr>
          <p:cNvPr name="Freeform 26" id="26"/>
          <p:cNvSpPr/>
          <p:nvPr/>
        </p:nvSpPr>
        <p:spPr>
          <a:xfrm flipH="false" flipV="false" rot="-985132">
            <a:off x="15156177" y="2182065"/>
            <a:ext cx="5020056" cy="8229600"/>
          </a:xfrm>
          <a:custGeom>
            <a:avLst/>
            <a:gdLst/>
            <a:ahLst/>
            <a:cxnLst/>
            <a:rect r="r" b="b" t="t" l="l"/>
            <a:pathLst>
              <a:path h="8229600" w="5020056">
                <a:moveTo>
                  <a:pt x="0" y="0"/>
                </a:moveTo>
                <a:lnTo>
                  <a:pt x="5020056" y="0"/>
                </a:lnTo>
                <a:lnTo>
                  <a:pt x="5020056" y="8229600"/>
                </a:lnTo>
                <a:lnTo>
                  <a:pt x="0" y="8229600"/>
                </a:lnTo>
                <a:lnTo>
                  <a:pt x="0" y="0"/>
                </a:lnTo>
                <a:close/>
              </a:path>
            </a:pathLst>
          </a:custGeom>
          <a:blipFill>
            <a:blip r:embed="rId7"/>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DAHNdasfOBU</dc:identifier>
  <dcterms:modified xsi:type="dcterms:W3CDTF">2011-08-01T06:04:30Z</dcterms:modified>
  <cp:revision>1</cp:revision>
  <dc:title>log-in form</dc:title>
</cp:coreProperties>
</file>